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14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0" y="0"/>
            <a:ext cx="73152" cy="6858000"/>
          </a:xfrm>
          <a:prstGeom prst="rect">
            <a:avLst/>
          </a:prstGeom>
          <a:solidFill>
            <a:srgbClr val="1A5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0" y="-1097280"/>
            <a:ext cx="4114800" cy="4114800"/>
          </a:xfrm>
          <a:prstGeom prst="rect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875520" y="182880"/>
            <a:ext cx="2743200" cy="2743200"/>
          </a:xfrm>
          <a:prstGeom prst="rect">
            <a:avLst/>
          </a:prstGeom>
          <a:solidFill>
            <a:srgbClr val="1A5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Georgia"/>
              </a:rPr>
              <a:t>OpsLens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2316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CADCFC"/>
                </a:solidFill>
                <a:latin typeface="Calibri"/>
              </a:rPr>
              <a:t>System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0632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94A3B8"/>
                </a:solidFill>
                <a:latin typeface="Calibri"/>
              </a:rPr>
              <a:t>Operational Intelligence Copilot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0" y="1645920"/>
            <a:ext cx="5943600" cy="777240"/>
          </a:xfrm>
          <a:prstGeom prst="rect">
            <a:avLst/>
          </a:prstGeom>
          <a:solidFill>
            <a:srgbClr val="14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0" y="1645920"/>
            <a:ext cx="73152" cy="7772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33872" y="1682496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  <a:latin typeface="Calibri"/>
              </a:rPr>
              <a:t>LAYER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33872" y="202996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Data Understanding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0" y="2697480"/>
            <a:ext cx="5943600" cy="777240"/>
          </a:xfrm>
          <a:prstGeom prst="rect">
            <a:avLst/>
          </a:prstGeom>
          <a:solidFill>
            <a:srgbClr val="14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0" y="2697480"/>
            <a:ext cx="73152" cy="777240"/>
          </a:xfrm>
          <a:prstGeom prst="rect">
            <a:avLst/>
          </a:prstGeom>
          <a:solidFill>
            <a:srgbClr val="06C2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33872" y="2734056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C273"/>
                </a:solidFill>
                <a:latin typeface="Calibri"/>
              </a:rPr>
              <a:t>LAYER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33872" y="308152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Intelligence Engine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0" y="3749039"/>
            <a:ext cx="5943600" cy="777240"/>
          </a:xfrm>
          <a:prstGeom prst="rect">
            <a:avLst/>
          </a:prstGeom>
          <a:solidFill>
            <a:srgbClr val="14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0" y="3749039"/>
            <a:ext cx="73152" cy="77724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33872" y="3785615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8C42"/>
                </a:solidFill>
                <a:latin typeface="Calibri"/>
              </a:rPr>
              <a:t>LAYER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33872" y="4133087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Business UX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21792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4A3B8"/>
                </a:solidFill>
                <a:latin typeface="Calibri"/>
              </a:rPr>
              <a:t>v1.0 — MVP Blueprint  |  FastAPI · LangChain · Qdrant · PostgreSQL · Airbyte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Georgia"/>
              </a:rPr>
              <a:t>Full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772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4A3B8"/>
                </a:solidFill>
                <a:latin typeface="Calibri"/>
              </a:rPr>
              <a:t>End-to-end data flow across three decoupled layers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280160"/>
            <a:ext cx="1627632" cy="566928"/>
          </a:xfrm>
          <a:prstGeom prst="rect">
            <a:avLst/>
          </a:prstGeom>
          <a:solidFill>
            <a:srgbClr val="4A1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1627632" cy="73152"/>
          </a:xfrm>
          <a:prstGeom prst="rect">
            <a:avLst/>
          </a:prstGeom>
          <a:solidFill>
            <a:srgbClr val="1A5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371600"/>
            <a:ext cx="16276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Slack</a:t>
            </a:r>
          </a:p>
        </p:txBody>
      </p:sp>
      <p:sp>
        <p:nvSpPr>
          <p:cNvPr id="7" name="Rectangle 6"/>
          <p:cNvSpPr/>
          <p:nvPr/>
        </p:nvSpPr>
        <p:spPr>
          <a:xfrm>
            <a:off x="2121408" y="1280160"/>
            <a:ext cx="1627632" cy="566928"/>
          </a:xfrm>
          <a:prstGeom prst="rect">
            <a:avLst/>
          </a:prstGeom>
          <a:solidFill>
            <a:srgbClr val="102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121408" y="1280160"/>
            <a:ext cx="1627632" cy="73152"/>
          </a:xfrm>
          <a:prstGeom prst="rect">
            <a:avLst/>
          </a:prstGeom>
          <a:solidFill>
            <a:srgbClr val="1A5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21408" y="1371600"/>
            <a:ext cx="16276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Jira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77056" y="1280160"/>
            <a:ext cx="1627632" cy="566928"/>
          </a:xfrm>
          <a:prstGeom prst="rect">
            <a:avLst/>
          </a:prstGeom>
          <a:solidFill>
            <a:srgbClr val="1A7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77056" y="1280160"/>
            <a:ext cx="1627632" cy="73152"/>
          </a:xfrm>
          <a:prstGeom prst="rect">
            <a:avLst/>
          </a:prstGeom>
          <a:solidFill>
            <a:srgbClr val="1A5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77056" y="1371600"/>
            <a:ext cx="16276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Google Drive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32704" y="1280160"/>
            <a:ext cx="1627632" cy="566928"/>
          </a:xfrm>
          <a:prstGeom prst="rect">
            <a:avLst/>
          </a:prstGeom>
          <a:solidFill>
            <a:srgbClr val="03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32704" y="1280160"/>
            <a:ext cx="1627632" cy="73152"/>
          </a:xfrm>
          <a:prstGeom prst="rect">
            <a:avLst/>
          </a:prstGeom>
          <a:solidFill>
            <a:srgbClr val="1A5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32704" y="1371600"/>
            <a:ext cx="16276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Zendesk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88352" y="1280160"/>
            <a:ext cx="1627632" cy="566928"/>
          </a:xfrm>
          <a:prstGeom prst="rect">
            <a:avLst/>
          </a:prstGeom>
          <a:solidFill>
            <a:srgbClr val="242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88352" y="1280160"/>
            <a:ext cx="1627632" cy="73152"/>
          </a:xfrm>
          <a:prstGeom prst="rect">
            <a:avLst/>
          </a:prstGeom>
          <a:solidFill>
            <a:srgbClr val="1A5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88352" y="1371600"/>
            <a:ext cx="16276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GitHub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0" y="1280160"/>
            <a:ext cx="1627632" cy="566928"/>
          </a:xfrm>
          <a:prstGeom prst="rect">
            <a:avLst/>
          </a:prstGeom>
          <a:solidFill>
            <a:srgbClr val="602D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44000" y="1280160"/>
            <a:ext cx="1627632" cy="73152"/>
          </a:xfrm>
          <a:prstGeom prst="rect">
            <a:avLst/>
          </a:prstGeom>
          <a:solidFill>
            <a:srgbClr val="1A5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0" y="1371600"/>
            <a:ext cx="16276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HubSpot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60720" y="1938528"/>
            <a:ext cx="64008" cy="3657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12080" y="192024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B4D8"/>
                </a:solidFill>
                <a:latin typeface="Calibri"/>
              </a:rPr>
              <a:t>Airbyte Sync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2377440"/>
            <a:ext cx="11430000" cy="1143000"/>
          </a:xfrm>
          <a:prstGeom prst="rect">
            <a:avLst/>
          </a:prstGeom>
          <a:solidFill>
            <a:srgbClr val="14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65760" y="2377440"/>
            <a:ext cx="11430000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246888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  <a:latin typeface="Calibri"/>
              </a:rPr>
              <a:t>LAYER 1 — DATA UNDERSTANDING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2852928"/>
            <a:ext cx="2176272" cy="548640"/>
          </a:xfrm>
          <a:prstGeom prst="rect">
            <a:avLst/>
          </a:prstGeom>
          <a:solidFill>
            <a:srgbClr val="0E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2880360"/>
            <a:ext cx="21762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Normalize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697479" y="2852928"/>
            <a:ext cx="2176272" cy="548640"/>
          </a:xfrm>
          <a:prstGeom prst="rect">
            <a:avLst/>
          </a:prstGeom>
          <a:solidFill>
            <a:srgbClr val="0E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697479" y="2880360"/>
            <a:ext cx="21762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Deduplicate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83480" y="2852928"/>
            <a:ext cx="2176272" cy="548640"/>
          </a:xfrm>
          <a:prstGeom prst="rect">
            <a:avLst/>
          </a:prstGeom>
          <a:solidFill>
            <a:srgbClr val="0E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983480" y="2880360"/>
            <a:ext cx="21762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Chunk Docs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269480" y="2852928"/>
            <a:ext cx="2176272" cy="548640"/>
          </a:xfrm>
          <a:prstGeom prst="rect">
            <a:avLst/>
          </a:prstGeom>
          <a:solidFill>
            <a:srgbClr val="0E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269480" y="2880360"/>
            <a:ext cx="21762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Generate Embeddings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555480" y="2852928"/>
            <a:ext cx="2176272" cy="548640"/>
          </a:xfrm>
          <a:prstGeom prst="rect">
            <a:avLst/>
          </a:prstGeom>
          <a:solidFill>
            <a:srgbClr val="0E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555480" y="2880360"/>
            <a:ext cx="21762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Store (PG + Qdrant)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760720" y="3584448"/>
            <a:ext cx="64008" cy="320040"/>
          </a:xfrm>
          <a:prstGeom prst="rect">
            <a:avLst/>
          </a:prstGeom>
          <a:solidFill>
            <a:srgbClr val="06C2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9200" y="361188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6C273"/>
                </a:solidFill>
                <a:latin typeface="Calibri"/>
              </a:rPr>
              <a:t>Processed data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3931920"/>
            <a:ext cx="11430000" cy="1143000"/>
          </a:xfrm>
          <a:prstGeom prst="rect">
            <a:avLst/>
          </a:prstGeom>
          <a:solidFill>
            <a:srgbClr val="14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65760" y="3931920"/>
            <a:ext cx="11430000" cy="64008"/>
          </a:xfrm>
          <a:prstGeom prst="rect">
            <a:avLst/>
          </a:prstGeom>
          <a:solidFill>
            <a:srgbClr val="06C2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2920" y="4023359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C273"/>
                </a:solidFill>
                <a:latin typeface="Calibri"/>
              </a:rPr>
              <a:t>LAYER 2 — INTELLIGENCE ENGINE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1480" y="4407408"/>
            <a:ext cx="2176272" cy="548640"/>
          </a:xfrm>
          <a:prstGeom prst="rect">
            <a:avLst/>
          </a:prstGeom>
          <a:solidFill>
            <a:srgbClr val="07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11480" y="4434840"/>
            <a:ext cx="21762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RAG Pipeline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697479" y="4407408"/>
            <a:ext cx="2176272" cy="548640"/>
          </a:xfrm>
          <a:prstGeom prst="rect">
            <a:avLst/>
          </a:prstGeom>
          <a:solidFill>
            <a:srgbClr val="07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697479" y="4434840"/>
            <a:ext cx="21762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Insight Detection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983480" y="4407408"/>
            <a:ext cx="2176272" cy="548640"/>
          </a:xfrm>
          <a:prstGeom prst="rect">
            <a:avLst/>
          </a:prstGeom>
          <a:solidFill>
            <a:srgbClr val="07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983480" y="4434840"/>
            <a:ext cx="21762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Pattern Analysis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269480" y="4407408"/>
            <a:ext cx="2176272" cy="548640"/>
          </a:xfrm>
          <a:prstGeom prst="rect">
            <a:avLst/>
          </a:prstGeom>
          <a:solidFill>
            <a:srgbClr val="07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269480" y="4434840"/>
            <a:ext cx="21762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Alert Engine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555480" y="4407408"/>
            <a:ext cx="2176272" cy="548640"/>
          </a:xfrm>
          <a:prstGeom prst="rect">
            <a:avLst/>
          </a:prstGeom>
          <a:solidFill>
            <a:srgbClr val="07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555480" y="4434840"/>
            <a:ext cx="21762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LangSmith Tracing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760720" y="5138928"/>
            <a:ext cx="64008" cy="32004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365760" y="5486400"/>
            <a:ext cx="11430000" cy="777240"/>
          </a:xfrm>
          <a:prstGeom prst="rect">
            <a:avLst/>
          </a:prstGeom>
          <a:solidFill>
            <a:srgbClr val="14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65760" y="5486400"/>
            <a:ext cx="11430000" cy="64008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02920" y="55778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8C42"/>
                </a:solidFill>
                <a:latin typeface="Calibri"/>
              </a:rPr>
              <a:t>LAYER 3 — BUSINESS UX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7200" y="5897880"/>
            <a:ext cx="27477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▶  AI Chat Interface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314700" y="5897880"/>
            <a:ext cx="27477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▶  Intelligence Dashboard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172200" y="5897880"/>
            <a:ext cx="27477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▶  Alerts Manager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029700" y="5897880"/>
            <a:ext cx="27477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▶  Settings &amp; Integrations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4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Georgia"/>
              </a:rPr>
              <a:t>Layer 1 — Data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B4D8"/>
                </a:solidFill>
                <a:latin typeface="Calibri"/>
              </a:rPr>
              <a:t>Ingestion · Normalisation · Chunking · Embedding · Storage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2121408" cy="3200400"/>
          </a:xfrm>
          <a:prstGeom prst="rect">
            <a:avLst/>
          </a:prstGeom>
          <a:solidFill>
            <a:srgbClr val="0E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2121408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234440"/>
            <a:ext cx="2029967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B4D8"/>
                </a:solidFill>
                <a:latin typeface="Calibri"/>
              </a:rPr>
              <a:t>01
Airbyte
Ingest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79" y="2121408"/>
            <a:ext cx="1847088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2212848"/>
            <a:ext cx="1938527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8EFF8"/>
                </a:solidFill>
                <a:latin typeface="Calibri"/>
              </a:rPr>
              <a:t>Slack, Jira,
Google Drive,
Zendesk, GitHub,
HubSpot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04871" y="2560320"/>
            <a:ext cx="146304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560320" y="1188720"/>
            <a:ext cx="2121408" cy="3200400"/>
          </a:xfrm>
          <a:prstGeom prst="rect">
            <a:avLst/>
          </a:prstGeom>
          <a:solidFill>
            <a:srgbClr val="0E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60320" y="1188720"/>
            <a:ext cx="2121408" cy="64008"/>
          </a:xfrm>
          <a:prstGeom prst="rect">
            <a:avLst/>
          </a:prstGeom>
          <a:solidFill>
            <a:srgbClr val="128A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06039" y="1234440"/>
            <a:ext cx="2029967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28ACF"/>
                </a:solidFill>
                <a:latin typeface="Calibri"/>
              </a:rPr>
              <a:t>02
Normalize
&amp; Dedup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97479" y="2121408"/>
            <a:ext cx="1847088" cy="27432"/>
          </a:xfrm>
          <a:prstGeom prst="rect">
            <a:avLst/>
          </a:prstGeom>
          <a:solidFill>
            <a:srgbClr val="128A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51760" y="2212848"/>
            <a:ext cx="1938527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8EFF8"/>
                </a:solidFill>
                <a:latin typeface="Calibri"/>
              </a:rPr>
              <a:t>Map to canonical
Document / Message
/ Issue / Ticket
SHA-256 dedup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90871" y="2560320"/>
            <a:ext cx="146304" cy="64008"/>
          </a:xfrm>
          <a:prstGeom prst="rect">
            <a:avLst/>
          </a:prstGeom>
          <a:solidFill>
            <a:srgbClr val="128A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846320" y="1188720"/>
            <a:ext cx="2121408" cy="3200400"/>
          </a:xfrm>
          <a:prstGeom prst="rect">
            <a:avLst/>
          </a:prstGeom>
          <a:solidFill>
            <a:srgbClr val="0E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846320" y="1188720"/>
            <a:ext cx="2121408" cy="64008"/>
          </a:xfrm>
          <a:prstGeom prst="rect">
            <a:avLst/>
          </a:prstGeom>
          <a:solidFill>
            <a:srgbClr val="108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92040" y="1234440"/>
            <a:ext cx="2029967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08AA0"/>
                </a:solidFill>
                <a:latin typeface="Calibri"/>
              </a:rPr>
              <a:t>03
Text
Extract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83480" y="2121408"/>
            <a:ext cx="1847088" cy="27432"/>
          </a:xfrm>
          <a:prstGeom prst="rect">
            <a:avLst/>
          </a:prstGeom>
          <a:solidFill>
            <a:srgbClr val="108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37759" y="2212848"/>
            <a:ext cx="1938527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8EFF8"/>
                </a:solidFill>
                <a:latin typeface="Calibri"/>
              </a:rPr>
              <a:t>Extract plaintext
from Docs, PDFs,
DOCX, Markdown
via pdfplumber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976871" y="2560320"/>
            <a:ext cx="146304" cy="64008"/>
          </a:xfrm>
          <a:prstGeom prst="rect">
            <a:avLst/>
          </a:prstGeom>
          <a:solidFill>
            <a:srgbClr val="108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132320" y="1188720"/>
            <a:ext cx="2121408" cy="3200400"/>
          </a:xfrm>
          <a:prstGeom prst="rect">
            <a:avLst/>
          </a:prstGeom>
          <a:solidFill>
            <a:srgbClr val="0E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32320" y="1188720"/>
            <a:ext cx="2121408" cy="64008"/>
          </a:xfrm>
          <a:prstGeom prst="rect">
            <a:avLst/>
          </a:prstGeom>
          <a:solidFill>
            <a:srgbClr val="0E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78040" y="1234440"/>
            <a:ext cx="2029967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E8A7A"/>
                </a:solidFill>
                <a:latin typeface="Calibri"/>
              </a:rPr>
              <a:t>04
Chunk
Docs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269480" y="2121408"/>
            <a:ext cx="1847088" cy="27432"/>
          </a:xfrm>
          <a:prstGeom prst="rect">
            <a:avLst/>
          </a:prstGeom>
          <a:solidFill>
            <a:srgbClr val="0E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23759" y="2212848"/>
            <a:ext cx="1938527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8EFF8"/>
                </a:solidFill>
                <a:latin typeface="Calibri"/>
              </a:rPr>
              <a:t>512-token chunks
50-token overlap
tiktoken (cl100k)
preserves context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262872" y="2560320"/>
            <a:ext cx="146304" cy="64008"/>
          </a:xfrm>
          <a:prstGeom prst="rect">
            <a:avLst/>
          </a:prstGeom>
          <a:solidFill>
            <a:srgbClr val="0E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418320" y="1188720"/>
            <a:ext cx="2121408" cy="3200400"/>
          </a:xfrm>
          <a:prstGeom prst="rect">
            <a:avLst/>
          </a:prstGeom>
          <a:solidFill>
            <a:srgbClr val="0E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418320" y="1188720"/>
            <a:ext cx="2121408" cy="64008"/>
          </a:xfrm>
          <a:prstGeom prst="rect">
            <a:avLst/>
          </a:prstGeom>
          <a:solidFill>
            <a:srgbClr val="06C2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464040" y="1234440"/>
            <a:ext cx="2029967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6C273"/>
                </a:solidFill>
                <a:latin typeface="Calibri"/>
              </a:rPr>
              <a:t>05
Embed
&amp; Store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555480" y="2121408"/>
            <a:ext cx="1847088" cy="27432"/>
          </a:xfrm>
          <a:prstGeom prst="rect">
            <a:avLst/>
          </a:prstGeom>
          <a:solidFill>
            <a:srgbClr val="06C2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509760" y="2212848"/>
            <a:ext cx="1938527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8EFF8"/>
                </a:solidFill>
                <a:latin typeface="Calibri"/>
              </a:rPr>
              <a:t>text-embedding-
3-small (1536d)
Batch: 100 chunks
Upsert → Qdrant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4617720"/>
            <a:ext cx="5029200" cy="1097280"/>
          </a:xfrm>
          <a:prstGeom prst="rect">
            <a:avLst/>
          </a:prstGeom>
          <a:solidFill>
            <a:srgbClr val="0C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74320" y="4617720"/>
            <a:ext cx="5029200" cy="64008"/>
          </a:xfrm>
          <a:prstGeom prst="rect">
            <a:avLst/>
          </a:prstGeom>
          <a:solidFill>
            <a:srgbClr val="336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4681728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3C5FD"/>
                </a:solidFill>
                <a:latin typeface="Calibri"/>
              </a:rPr>
              <a:t>PostgreSQL — Structured Store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1480" y="5074920"/>
            <a:ext cx="4754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8EFF8"/>
                </a:solidFill>
                <a:latin typeface="Calibri"/>
              </a:rPr>
              <a:t>• canonical_documents   • chat_sessions</a:t>
            </a:r>
          </a:p>
          <a:p>
            <a:pPr algn="l"/>
            <a:r>
              <a:rPr sz="1000" b="0">
                <a:solidFill>
                  <a:srgbClr val="E8EFF8"/>
                </a:solidFill>
                <a:latin typeface="Calibri"/>
              </a:rPr>
              <a:t>• insights   • alert_rules   • users   • tenants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577840" y="4617720"/>
            <a:ext cx="5029200" cy="1097280"/>
          </a:xfrm>
          <a:prstGeom prst="rect">
            <a:avLst/>
          </a:prstGeom>
          <a:solidFill>
            <a:srgbClr val="0C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577840" y="4617720"/>
            <a:ext cx="5029200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715000" y="4681728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  <a:latin typeface="Calibri"/>
              </a:rPr>
              <a:t>Qdrant — Vector Store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715000" y="5074920"/>
            <a:ext cx="4754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8EFF8"/>
                </a:solidFill>
                <a:latin typeface="Calibri"/>
              </a:rPr>
              <a:t>• Per-tenant collections   • 1536-dim cosine</a:t>
            </a:r>
          </a:p>
          <a:p>
            <a:pPr algn="l"/>
            <a:r>
              <a:rPr sz="1000" b="0">
                <a:solidFill>
                  <a:srgbClr val="E8EFF8"/>
                </a:solidFill>
                <a:latin typeface="Calibri"/>
              </a:rPr>
              <a:t>• Payload indexes: source_type, author, created_at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881360" y="4617720"/>
            <a:ext cx="1005840" cy="1097280"/>
          </a:xfrm>
          <a:prstGeom prst="rect">
            <a:avLst/>
          </a:prstGeom>
          <a:solidFill>
            <a:srgbClr val="0C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0881360" y="4617720"/>
            <a:ext cx="1005840" cy="6400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899648" y="4681728"/>
            <a:ext cx="9601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5C518"/>
                </a:solidFill>
                <a:latin typeface="Calibri"/>
              </a:rPr>
              <a:t>Redis
Cache
&amp; Queue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" y="5897880"/>
            <a:ext cx="11612880" cy="713232"/>
          </a:xfrm>
          <a:prstGeom prst="rect">
            <a:avLst/>
          </a:prstGeom>
          <a:solidFill>
            <a:srgbClr val="06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200" y="601675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Celery Workers:  process_document · embed_batch · normalize_staging · process_staging_batch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4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06C2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Georgia"/>
              </a:rPr>
              <a:t>Layer 2 — Intelligence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6C273"/>
                </a:solidFill>
                <a:latin typeface="Calibri"/>
              </a:rPr>
              <a:t>RAG Pipeline · Insight Detection · Alert Evaluation · LLM Orchestration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5303520" cy="4114800"/>
          </a:xfrm>
          <a:prstGeom prst="rect">
            <a:avLst/>
          </a:prstGeom>
          <a:solidFill>
            <a:srgbClr val="072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5303520" cy="64008"/>
          </a:xfrm>
          <a:prstGeom prst="rect">
            <a:avLst/>
          </a:prstGeom>
          <a:solidFill>
            <a:srgbClr val="06C2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20700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C273"/>
                </a:solidFill>
                <a:latin typeface="Calibri"/>
              </a:rPr>
              <a:t>RAG Engine (Request-Driven)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1691640"/>
            <a:ext cx="292608" cy="274320"/>
          </a:xfrm>
          <a:prstGeom prst="rect">
            <a:avLst/>
          </a:prstGeom>
          <a:solidFill>
            <a:srgbClr val="06C2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1691640"/>
            <a:ext cx="292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169164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1. User Query arrives via chat API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" y="2084832"/>
            <a:ext cx="292608" cy="274320"/>
          </a:xfrm>
          <a:prstGeom prst="rect">
            <a:avLst/>
          </a:prstGeom>
          <a:solidFill>
            <a:srgbClr val="104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" y="2084832"/>
            <a:ext cx="292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2084832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Calibri"/>
              </a:rPr>
              <a:t>2. Embed query → text-embedding-3-small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4048" y="2478024"/>
            <a:ext cx="292608" cy="274320"/>
          </a:xfrm>
          <a:prstGeom prst="rect">
            <a:avLst/>
          </a:prstGeom>
          <a:solidFill>
            <a:srgbClr val="104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8" y="2478024"/>
            <a:ext cx="292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2478024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Calibri"/>
              </a:rPr>
              <a:t>3. Qdrant semantic search (top-10)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4048" y="2871216"/>
            <a:ext cx="292608" cy="274320"/>
          </a:xfrm>
          <a:prstGeom prst="rect">
            <a:avLst/>
          </a:prstGeom>
          <a:solidFill>
            <a:srgbClr val="104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4048" y="2871216"/>
            <a:ext cx="292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2871216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Calibri"/>
              </a:rPr>
              <a:t>4. Context window assembly (128k tokens)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4048" y="3264408"/>
            <a:ext cx="292608" cy="274320"/>
          </a:xfrm>
          <a:prstGeom prst="rect">
            <a:avLst/>
          </a:prstGeom>
          <a:solidFill>
            <a:srgbClr val="104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3264408"/>
            <a:ext cx="292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3264408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Calibri"/>
              </a:rPr>
              <a:t>5. Conversation history injection (last 5)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4048" y="3657600"/>
            <a:ext cx="292608" cy="274320"/>
          </a:xfrm>
          <a:prstGeom prst="rect">
            <a:avLst/>
          </a:prstGeom>
          <a:solidFill>
            <a:srgbClr val="104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4048" y="3657600"/>
            <a:ext cx="292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365760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Calibri"/>
              </a:rPr>
              <a:t>6. GPT-4o streaming via LangChain LCEL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4048" y="4050791"/>
            <a:ext cx="292608" cy="274320"/>
          </a:xfrm>
          <a:prstGeom prst="rect">
            <a:avLst/>
          </a:prstGeom>
          <a:solidFill>
            <a:srgbClr val="104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4048" y="4050791"/>
            <a:ext cx="292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4050791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Calibri"/>
              </a:rPr>
              <a:t>7. Source citations extracted + returned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84048" y="4443983"/>
            <a:ext cx="292608" cy="274320"/>
          </a:xfrm>
          <a:prstGeom prst="rect">
            <a:avLst/>
          </a:prstGeom>
          <a:solidFill>
            <a:srgbClr val="104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" y="4443983"/>
            <a:ext cx="292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8" y="4443983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Calibri"/>
              </a:rPr>
              <a:t>8. Interaction logged to audit_logs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43600" y="1143000"/>
            <a:ext cx="5943600" cy="4114800"/>
          </a:xfrm>
          <a:prstGeom prst="rect">
            <a:avLst/>
          </a:prstGeom>
          <a:solidFill>
            <a:srgbClr val="071A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943600" y="1143000"/>
            <a:ext cx="5943600" cy="6400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80760" y="1207008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C518"/>
                </a:solidFill>
                <a:latin typeface="Calibri"/>
              </a:rPr>
              <a:t>Insight Engine (Scheduled – Celery Beat)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1719072"/>
            <a:ext cx="5669280" cy="566928"/>
          </a:xfrm>
          <a:prstGeom prst="rect">
            <a:avLst/>
          </a:prstGeom>
          <a:solidFill>
            <a:srgbClr val="0E2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035040" y="1719072"/>
            <a:ext cx="54864" cy="566928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63056" y="1755648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8C42"/>
                </a:solidFill>
                <a:latin typeface="Calibri"/>
              </a:rPr>
              <a:t>Complaint Spike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63056" y="2002536"/>
            <a:ext cx="5394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FF8"/>
                </a:solidFill>
                <a:latin typeface="Calibri"/>
              </a:rPr>
              <a:t>Zendesk+Slack → rolling 7-day count vs 2σ baseline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35040" y="2377439"/>
            <a:ext cx="5669280" cy="566928"/>
          </a:xfrm>
          <a:prstGeom prst="rect">
            <a:avLst/>
          </a:prstGeom>
          <a:solidFill>
            <a:srgbClr val="0E2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035040" y="2377439"/>
            <a:ext cx="54864" cy="5669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163056" y="2414015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  <a:latin typeface="Calibri"/>
              </a:rPr>
              <a:t>Feature Trend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63056" y="2660903"/>
            <a:ext cx="5394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FF8"/>
                </a:solidFill>
                <a:latin typeface="Calibri"/>
              </a:rPr>
              <a:t>Jira+Zendesk cluster → 30-day similar-request count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35040" y="3035808"/>
            <a:ext cx="5669280" cy="566928"/>
          </a:xfrm>
          <a:prstGeom prst="rect">
            <a:avLst/>
          </a:prstGeom>
          <a:solidFill>
            <a:srgbClr val="0E2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035040" y="3035808"/>
            <a:ext cx="54864" cy="566928"/>
          </a:xfrm>
          <a:prstGeom prst="rect">
            <a:avLst/>
          </a:prstGeom>
          <a:solidFill>
            <a:srgbClr val="06C2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163056" y="3072384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C273"/>
                </a:solidFill>
                <a:latin typeface="Calibri"/>
              </a:rPr>
              <a:t>Release Correlation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63056" y="3319272"/>
            <a:ext cx="5394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FF8"/>
                </a:solidFill>
                <a:latin typeface="Calibri"/>
              </a:rPr>
              <a:t>GitHub tags × error spikes → Pearson correlation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035040" y="3694176"/>
            <a:ext cx="5669280" cy="566928"/>
          </a:xfrm>
          <a:prstGeom prst="rect">
            <a:avLst/>
          </a:prstGeom>
          <a:solidFill>
            <a:srgbClr val="0E2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035040" y="3694176"/>
            <a:ext cx="54864" cy="566928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163056" y="3730752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ADCFC"/>
                </a:solidFill>
                <a:latin typeface="Calibri"/>
              </a:rPr>
              <a:t>Eng Bottleneck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63056" y="3977639"/>
            <a:ext cx="5394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FF8"/>
                </a:solidFill>
                <a:latin typeface="Calibri"/>
              </a:rPr>
              <a:t>Jira In-Progress &gt; 5 days, no activity → flag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035040" y="4352544"/>
            <a:ext cx="5669280" cy="566928"/>
          </a:xfrm>
          <a:prstGeom prst="rect">
            <a:avLst/>
          </a:prstGeom>
          <a:solidFill>
            <a:srgbClr val="0E2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035040" y="4352544"/>
            <a:ext cx="54864" cy="566928"/>
          </a:xfrm>
          <a:prstGeom prst="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163056" y="4389120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5C5C"/>
                </a:solidFill>
                <a:latin typeface="Calibri"/>
              </a:rPr>
              <a:t>Churn Risk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163056" y="4636007"/>
            <a:ext cx="5394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FF8"/>
                </a:solidFill>
                <a:latin typeface="Calibri"/>
              </a:rPr>
              <a:t>Critical tickets × CRM renewal date &lt; 30 days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74320" y="5440680"/>
            <a:ext cx="11612880" cy="1115568"/>
          </a:xfrm>
          <a:prstGeom prst="rect">
            <a:avLst/>
          </a:prstGeom>
          <a:solidFill>
            <a:srgbClr val="1A0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274320" y="5440680"/>
            <a:ext cx="11612880" cy="54864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57200" y="550468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8C42"/>
                </a:solidFill>
                <a:latin typeface="Calibri"/>
              </a:rPr>
              <a:t>Alert Engine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7200" y="587044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8EFF8"/>
                </a:solidFill>
                <a:latin typeface="Calibri"/>
              </a:rPr>
              <a:t>Rule evaluator runs every 15 min via Celery Beat    →    Condition match (gt/gte/lt/contains)    →    Cooldown check    →    Dispatch</a:t>
            </a:r>
          </a:p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Channels: Slack Incoming Webhook  ·  SendGrid Email    |    Alert history persisted to alert_history table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4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Georgia"/>
              </a:rPr>
              <a:t>Layer 3 — Business UX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8C42"/>
                </a:solidFill>
                <a:latin typeface="Calibri"/>
              </a:rPr>
              <a:t>AI Chat  ·  Intelligence Dashboard  ·  Alerts Manager  ·  Settings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3566160" cy="4480560"/>
          </a:xfrm>
          <a:prstGeom prst="rect">
            <a:avLst/>
          </a:prstGeom>
          <a:solidFill>
            <a:srgbClr val="0E1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3566160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261872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  <a:latin typeface="Calibri"/>
              </a:rPr>
              <a:t>AI Chat Interface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1783080"/>
            <a:ext cx="201168" cy="20116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1764792"/>
            <a:ext cx="2194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B4D8"/>
                </a:solidFill>
                <a:latin typeface="Calibr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783080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FF8"/>
                </a:solidFill>
                <a:latin typeface="Calibri"/>
              </a:rPr>
              <a:t>Natural language Q&amp;A over company data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" y="2313432"/>
            <a:ext cx="201168" cy="20116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" y="2295144"/>
            <a:ext cx="2194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B4D8"/>
                </a:solidFill>
                <a:latin typeface="Calibr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2313432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FF8"/>
                </a:solidFill>
                <a:latin typeface="Calibri"/>
              </a:rPr>
              <a:t>Streaming SSE token-by-token responses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4048" y="2843784"/>
            <a:ext cx="201168" cy="20116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8" y="2825496"/>
            <a:ext cx="2194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B4D8"/>
                </a:solidFill>
                <a:latin typeface="Calibri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2843784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FF8"/>
                </a:solidFill>
                <a:latin typeface="Calibri"/>
              </a:rPr>
              <a:t>Source citations with deep links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4048" y="3374135"/>
            <a:ext cx="201168" cy="20116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4048" y="3355847"/>
            <a:ext cx="2194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B4D8"/>
                </a:solidFill>
                <a:latin typeface="Calibr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3374135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FF8"/>
                </a:solidFill>
                <a:latin typeface="Calibri"/>
              </a:rPr>
              <a:t>Context filtering (source, date range)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4048" y="3904487"/>
            <a:ext cx="201168" cy="20116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3886200"/>
            <a:ext cx="2194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B4D8"/>
                </a:solidFill>
                <a:latin typeface="Calibri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3904487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FF8"/>
                </a:solidFill>
                <a:latin typeface="Calibri"/>
              </a:rPr>
              <a:t>Conversation history (persistent sessions)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4048" y="4434840"/>
            <a:ext cx="201168" cy="20116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4048" y="4416552"/>
            <a:ext cx="2194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B4D8"/>
                </a:solidFill>
                <a:latin typeface="Calibri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4434840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FF8"/>
                </a:solidFill>
                <a:latin typeface="Calibri"/>
              </a:rPr>
              <a:t>Thumbs up/down feedback → LangSmith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97680" y="1188720"/>
            <a:ext cx="3566160" cy="4480560"/>
          </a:xfrm>
          <a:prstGeom prst="rect">
            <a:avLst/>
          </a:prstGeom>
          <a:solidFill>
            <a:srgbClr val="0E1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297680" y="1188720"/>
            <a:ext cx="3566160" cy="64008"/>
          </a:xfrm>
          <a:prstGeom prst="rect">
            <a:avLst/>
          </a:prstGeom>
          <a:solidFill>
            <a:srgbClr val="06C2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07408" y="1261872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C273"/>
                </a:solidFill>
                <a:latin typeface="Calibri"/>
              </a:rPr>
              <a:t>Intelligence Dashboard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407408" y="1783080"/>
            <a:ext cx="201168" cy="201168"/>
          </a:xfrm>
          <a:prstGeom prst="rect">
            <a:avLst/>
          </a:prstGeom>
          <a:solidFill>
            <a:srgbClr val="06C2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07408" y="1764792"/>
            <a:ext cx="2194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6C273"/>
                </a:solidFill>
                <a:latin typeface="Calibri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81728" y="1783080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FF8"/>
                </a:solidFill>
                <a:latin typeface="Calibri"/>
              </a:rPr>
              <a:t>Auto-generated insight cards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407408" y="2313432"/>
            <a:ext cx="201168" cy="201168"/>
          </a:xfrm>
          <a:prstGeom prst="rect">
            <a:avLst/>
          </a:prstGeom>
          <a:solidFill>
            <a:srgbClr val="06C2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07408" y="2295144"/>
            <a:ext cx="2194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6C273"/>
                </a:solidFill>
                <a:latin typeface="Calibri"/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81728" y="2313432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FF8"/>
                </a:solidFill>
                <a:latin typeface="Calibri"/>
              </a:rPr>
              <a:t>4 panels: Product · Customer · Eng · Release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407408" y="2843784"/>
            <a:ext cx="201168" cy="201168"/>
          </a:xfrm>
          <a:prstGeom prst="rect">
            <a:avLst/>
          </a:prstGeom>
          <a:solidFill>
            <a:srgbClr val="06C2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07408" y="2825496"/>
            <a:ext cx="2194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6C273"/>
                </a:solidFill>
                <a:latin typeface="Calibri"/>
              </a:rPr>
              <a:t>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81728" y="2843784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FF8"/>
                </a:solidFill>
                <a:latin typeface="Calibri"/>
              </a:rPr>
              <a:t>Insight status: Active / Resolved / Snoozed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407408" y="3374135"/>
            <a:ext cx="201168" cy="201168"/>
          </a:xfrm>
          <a:prstGeom prst="rect">
            <a:avLst/>
          </a:prstGeom>
          <a:solidFill>
            <a:srgbClr val="06C2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407408" y="3355847"/>
            <a:ext cx="2194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6C273"/>
                </a:solidFill>
                <a:latin typeface="Calibri"/>
              </a:rPr>
              <a:t>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81728" y="3374135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FF8"/>
                </a:solidFill>
                <a:latin typeface="Calibri"/>
              </a:rPr>
              <a:t>Filtering by type, source, date range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407408" y="3904487"/>
            <a:ext cx="201168" cy="201168"/>
          </a:xfrm>
          <a:prstGeom prst="rect">
            <a:avLst/>
          </a:prstGeom>
          <a:solidFill>
            <a:srgbClr val="06C2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407408" y="3886200"/>
            <a:ext cx="2194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6C273"/>
                </a:solidFill>
                <a:latin typeface="Calibri"/>
              </a:rPr>
              <a:t>✓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81728" y="3904487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FF8"/>
                </a:solidFill>
                <a:latin typeface="Calibri"/>
              </a:rPr>
              <a:t>Magnitude indicators and trend sparklines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407408" y="4434840"/>
            <a:ext cx="201168" cy="201168"/>
          </a:xfrm>
          <a:prstGeom prst="rect">
            <a:avLst/>
          </a:prstGeom>
          <a:solidFill>
            <a:srgbClr val="06C2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407408" y="4416552"/>
            <a:ext cx="2194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6C273"/>
                </a:solidFill>
                <a:latin typeface="Calibri"/>
              </a:rPr>
              <a:t>✓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81728" y="4434840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FF8"/>
                </a:solidFill>
                <a:latin typeface="Calibri"/>
              </a:rPr>
              <a:t>Hourly refresh via background workers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321040" y="1188720"/>
            <a:ext cx="3566160" cy="4480560"/>
          </a:xfrm>
          <a:prstGeom prst="rect">
            <a:avLst/>
          </a:prstGeom>
          <a:solidFill>
            <a:srgbClr val="0E1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321040" y="1188720"/>
            <a:ext cx="3566160" cy="64008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430767" y="1261872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8C42"/>
                </a:solidFill>
                <a:latin typeface="Calibri"/>
              </a:rPr>
              <a:t>Alerts Manager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430767" y="1783080"/>
            <a:ext cx="201168" cy="201168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430767" y="1764792"/>
            <a:ext cx="2194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8C42"/>
                </a:solidFill>
                <a:latin typeface="Calibri"/>
              </a:rPr>
              <a:t>✓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705088" y="1783080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FF8"/>
                </a:solidFill>
                <a:latin typeface="Calibri"/>
              </a:rPr>
              <a:t>No-code alert rule creation (UI form)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430767" y="2313432"/>
            <a:ext cx="201168" cy="201168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430767" y="2295144"/>
            <a:ext cx="2194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8C42"/>
                </a:solidFill>
                <a:latin typeface="Calibri"/>
              </a:rPr>
              <a:t>✓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705088" y="2313432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FF8"/>
                </a:solidFill>
                <a:latin typeface="Calibri"/>
              </a:rPr>
              <a:t>Threshold conditions (gt/lt/contains)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430767" y="2843784"/>
            <a:ext cx="201168" cy="201168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430767" y="2825496"/>
            <a:ext cx="2194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8C42"/>
                </a:solidFill>
                <a:latin typeface="Calibri"/>
              </a:rPr>
              <a:t>✓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705088" y="2843784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FF8"/>
                </a:solidFill>
                <a:latin typeface="Calibri"/>
              </a:rPr>
              <a:t>Multi-channel: Slack webhook + email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430767" y="3374135"/>
            <a:ext cx="201168" cy="201168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430767" y="3355847"/>
            <a:ext cx="2194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8C42"/>
                </a:solidFill>
                <a:latin typeface="Calibri"/>
              </a:rPr>
              <a:t>✓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705088" y="3374135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FF8"/>
                </a:solidFill>
                <a:latin typeface="Calibri"/>
              </a:rPr>
              <a:t>Cooldown control (avoid alert storms)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430767" y="3904487"/>
            <a:ext cx="201168" cy="201168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430767" y="3886200"/>
            <a:ext cx="2194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8C42"/>
                </a:solidFill>
                <a:latin typeface="Calibri"/>
              </a:rPr>
              <a:t>✓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705088" y="3904487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FF8"/>
                </a:solidFill>
                <a:latin typeface="Calibri"/>
              </a:rPr>
              <a:t>Alert history with audit trail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430767" y="4434840"/>
            <a:ext cx="201168" cy="201168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430767" y="4416552"/>
            <a:ext cx="2194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8C42"/>
                </a:solidFill>
                <a:latin typeface="Calibri"/>
              </a:rPr>
              <a:t>✓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705088" y="4434840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FF8"/>
                </a:solidFill>
                <a:latin typeface="Calibri"/>
              </a:rPr>
              <a:t>Test-fire any rule to verify config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74320" y="5833872"/>
            <a:ext cx="11612880" cy="749808"/>
          </a:xfrm>
          <a:prstGeom prst="rect">
            <a:avLst/>
          </a:prstGeom>
          <a:solidFill>
            <a:srgbClr val="061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57200" y="59436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4A3B8"/>
                </a:solidFill>
                <a:latin typeface="Calibri"/>
              </a:rPr>
              <a:t>Tech Stack: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828800" y="5961888"/>
            <a:ext cx="1554480" cy="365760"/>
          </a:xfrm>
          <a:prstGeom prst="rect">
            <a:avLst/>
          </a:prstGeom>
          <a:solidFill>
            <a:srgbClr val="14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828800" y="5961888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ADCFC"/>
                </a:solidFill>
                <a:latin typeface="Calibri"/>
              </a:rPr>
              <a:t>Next.js 14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520440" y="5961888"/>
            <a:ext cx="1554480" cy="365760"/>
          </a:xfrm>
          <a:prstGeom prst="rect">
            <a:avLst/>
          </a:prstGeom>
          <a:solidFill>
            <a:srgbClr val="14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520440" y="5961888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ADCFC"/>
                </a:solidFill>
                <a:latin typeface="Calibri"/>
              </a:rPr>
              <a:t>TypeScript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212080" y="5961888"/>
            <a:ext cx="1554480" cy="365760"/>
          </a:xfrm>
          <a:prstGeom prst="rect">
            <a:avLst/>
          </a:prstGeom>
          <a:solidFill>
            <a:srgbClr val="14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212080" y="5961888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ADCFC"/>
                </a:solidFill>
                <a:latin typeface="Calibri"/>
              </a:rPr>
              <a:t>React Query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903720" y="5961888"/>
            <a:ext cx="1554480" cy="365760"/>
          </a:xfrm>
          <a:prstGeom prst="rect">
            <a:avLst/>
          </a:prstGeom>
          <a:solidFill>
            <a:srgbClr val="14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903720" y="5961888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ADCFC"/>
                </a:solidFill>
                <a:latin typeface="Calibri"/>
              </a:rPr>
              <a:t>Tailwind CSS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595360" y="5961888"/>
            <a:ext cx="1554480" cy="365760"/>
          </a:xfrm>
          <a:prstGeom prst="rect">
            <a:avLst/>
          </a:prstGeom>
          <a:solidFill>
            <a:srgbClr val="14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595360" y="5961888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ADCFC"/>
                </a:solidFill>
                <a:latin typeface="Calibri"/>
              </a:rPr>
              <a:t>SSE Streaming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0287000" y="5961888"/>
            <a:ext cx="1554480" cy="365760"/>
          </a:xfrm>
          <a:prstGeom prst="rect">
            <a:avLst/>
          </a:prstGeom>
          <a:solidFill>
            <a:srgbClr val="14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0287000" y="5961888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ADCFC"/>
                </a:solidFill>
                <a:latin typeface="Calibri"/>
              </a:rPr>
              <a:t>Clerk Auth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4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1A5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Georgia"/>
              </a:rPr>
              <a:t>API Design — FastAPI REST + WebSocket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  <a:latin typeface="Calibri"/>
              </a:rPr>
              <a:t>Versioned REST under /api/v1  ·  JWT RS256 auth  ·  Per-tenant scoping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3749039" cy="4389120"/>
          </a:xfrm>
          <a:prstGeom prst="rect">
            <a:avLst/>
          </a:prstGeom>
          <a:solidFill>
            <a:srgbClr val="0C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3749039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280160"/>
            <a:ext cx="35661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4D8"/>
                </a:solidFill>
                <a:latin typeface="Consolas"/>
              </a:rPr>
              <a:t>/chat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783080"/>
            <a:ext cx="548640" cy="274320"/>
          </a:xfrm>
          <a:prstGeom prst="rect">
            <a:avLst/>
          </a:prstGeom>
          <a:solidFill>
            <a:srgbClr val="0F6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7830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POST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1783080"/>
            <a:ext cx="28803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onsolas"/>
              </a:rPr>
              <a:t>/sessions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057400"/>
            <a:ext cx="28803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4A3B8"/>
                </a:solidFill>
                <a:latin typeface="Calibri"/>
              </a:rPr>
              <a:t>Create chat session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505456"/>
            <a:ext cx="548640" cy="274320"/>
          </a:xfrm>
          <a:prstGeom prst="rect">
            <a:avLst/>
          </a:prstGeom>
          <a:solidFill>
            <a:srgbClr val="06A0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2505456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GET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2505456"/>
            <a:ext cx="28803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onsolas"/>
              </a:rPr>
              <a:t>/sessions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" y="2779776"/>
            <a:ext cx="28803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4A3B8"/>
                </a:solidFill>
                <a:latin typeface="Calibri"/>
              </a:rPr>
              <a:t>List user sessions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227832"/>
            <a:ext cx="548640" cy="274320"/>
          </a:xfrm>
          <a:prstGeom prst="rect">
            <a:avLst/>
          </a:prstGeom>
          <a:solidFill>
            <a:srgbClr val="0F6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322783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POST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" y="3227832"/>
            <a:ext cx="28803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onsolas"/>
              </a:rPr>
              <a:t>/sessions/{id}/query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" y="3502152"/>
            <a:ext cx="28803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4A3B8"/>
                </a:solidFill>
                <a:latin typeface="Calibri"/>
              </a:rPr>
              <a:t>Submit query → SSE stream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950208"/>
            <a:ext cx="548640" cy="274320"/>
          </a:xfrm>
          <a:prstGeom prst="rect">
            <a:avLst/>
          </a:prstGeom>
          <a:solidFill>
            <a:srgbClr val="B5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395020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DELETE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2" y="3950208"/>
            <a:ext cx="28803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onsolas"/>
              </a:rPr>
              <a:t>/sessions/{id}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7552" y="4224528"/>
            <a:ext cx="28803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4A3B8"/>
                </a:solidFill>
                <a:latin typeface="Calibri"/>
              </a:rPr>
              <a:t>Delete session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672584"/>
            <a:ext cx="548640" cy="274320"/>
          </a:xfrm>
          <a:prstGeom prst="rect">
            <a:avLst/>
          </a:prstGeom>
          <a:solidFill>
            <a:srgbClr val="0F6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4672584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POST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7552" y="4672584"/>
            <a:ext cx="28803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onsolas"/>
              </a:rPr>
              <a:t>/feedback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7552" y="4946904"/>
            <a:ext cx="28803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4A3B8"/>
                </a:solidFill>
                <a:latin typeface="Calibri"/>
              </a:rPr>
              <a:t>Rate a response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06240" y="1188720"/>
            <a:ext cx="3749039" cy="4389120"/>
          </a:xfrm>
          <a:prstGeom prst="rect">
            <a:avLst/>
          </a:prstGeom>
          <a:solidFill>
            <a:srgbClr val="0C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206240" y="1188720"/>
            <a:ext cx="3749039" cy="64008"/>
          </a:xfrm>
          <a:prstGeom prst="rect">
            <a:avLst/>
          </a:prstGeom>
          <a:solidFill>
            <a:srgbClr val="06C2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15968" y="1280160"/>
            <a:ext cx="35661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6C273"/>
                </a:solidFill>
                <a:latin typeface="Consolas"/>
              </a:rPr>
              <a:t>/insights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97679" y="1783080"/>
            <a:ext cx="548640" cy="274320"/>
          </a:xfrm>
          <a:prstGeom prst="rect">
            <a:avLst/>
          </a:prstGeom>
          <a:solidFill>
            <a:srgbClr val="06A0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97679" y="17830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GET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19472" y="1783080"/>
            <a:ext cx="28803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onsolas"/>
              </a:rPr>
              <a:t>/insights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19472" y="2057400"/>
            <a:ext cx="28803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4A3B8"/>
                </a:solidFill>
                <a:latin typeface="Calibri"/>
              </a:rPr>
              <a:t>List insights (filtered)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297679" y="2505456"/>
            <a:ext cx="548640" cy="274320"/>
          </a:xfrm>
          <a:prstGeom prst="rect">
            <a:avLst/>
          </a:prstGeom>
          <a:solidFill>
            <a:srgbClr val="06A0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297679" y="2505456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GET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19472" y="2505456"/>
            <a:ext cx="28803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onsolas"/>
              </a:rPr>
              <a:t>/insights/{id}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19472" y="2779776"/>
            <a:ext cx="28803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4A3B8"/>
                </a:solidFill>
                <a:latin typeface="Calibri"/>
              </a:rPr>
              <a:t>Get insight details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97679" y="3227832"/>
            <a:ext cx="548640" cy="274320"/>
          </a:xfrm>
          <a:prstGeom prst="rect">
            <a:avLst/>
          </a:prstGeom>
          <a:solidFill>
            <a:srgbClr val="0F6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97679" y="322783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POST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919472" y="3227832"/>
            <a:ext cx="28803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onsolas"/>
              </a:rPr>
              <a:t>/insights/generate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919472" y="3502152"/>
            <a:ext cx="28803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4A3B8"/>
                </a:solidFill>
                <a:latin typeface="Calibri"/>
              </a:rPr>
              <a:t>Trigger on-demand run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97679" y="3950208"/>
            <a:ext cx="548640" cy="274320"/>
          </a:xfrm>
          <a:prstGeom prst="rect">
            <a:avLst/>
          </a:prstGeom>
          <a:solidFill>
            <a:srgbClr val="B47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297679" y="395020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PATCH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919472" y="3950208"/>
            <a:ext cx="28803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onsolas"/>
              </a:rPr>
              <a:t>/insights/{id}/status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919472" y="4224528"/>
            <a:ext cx="28803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4A3B8"/>
                </a:solidFill>
                <a:latin typeface="Calibri"/>
              </a:rPr>
              <a:t>Resolve / snooze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138160" y="1188720"/>
            <a:ext cx="3749039" cy="4389120"/>
          </a:xfrm>
          <a:prstGeom prst="rect">
            <a:avLst/>
          </a:prstGeom>
          <a:solidFill>
            <a:srgbClr val="0C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138160" y="1188720"/>
            <a:ext cx="3749039" cy="64008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247888" y="1280160"/>
            <a:ext cx="35661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8C42"/>
                </a:solidFill>
                <a:latin typeface="Consolas"/>
              </a:rPr>
              <a:t>/alerts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229600" y="1783080"/>
            <a:ext cx="548640" cy="274320"/>
          </a:xfrm>
          <a:prstGeom prst="rect">
            <a:avLst/>
          </a:prstGeom>
          <a:solidFill>
            <a:srgbClr val="06A0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229600" y="17830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GET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851392" y="1783080"/>
            <a:ext cx="28803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onsolas"/>
              </a:rPr>
              <a:t>/alerts/rules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851392" y="2057400"/>
            <a:ext cx="28803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4A3B8"/>
                </a:solidFill>
                <a:latin typeface="Calibri"/>
              </a:rPr>
              <a:t>List alert rules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229600" y="2505456"/>
            <a:ext cx="548640" cy="274320"/>
          </a:xfrm>
          <a:prstGeom prst="rect">
            <a:avLst/>
          </a:prstGeom>
          <a:solidFill>
            <a:srgbClr val="0F6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229600" y="2505456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POST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851392" y="2505456"/>
            <a:ext cx="28803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onsolas"/>
              </a:rPr>
              <a:t>/alerts/rules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851392" y="2779776"/>
            <a:ext cx="28803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4A3B8"/>
                </a:solidFill>
                <a:latin typeface="Calibri"/>
              </a:rPr>
              <a:t>Create rule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229600" y="3227832"/>
            <a:ext cx="548640" cy="274320"/>
          </a:xfrm>
          <a:prstGeom prst="rect">
            <a:avLst/>
          </a:prstGeom>
          <a:solidFill>
            <a:srgbClr val="B47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229600" y="322783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PATCH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851392" y="3227832"/>
            <a:ext cx="28803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onsolas"/>
              </a:rPr>
              <a:t>/alerts/rules/{id}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851392" y="3502152"/>
            <a:ext cx="28803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4A3B8"/>
                </a:solidFill>
                <a:latin typeface="Calibri"/>
              </a:rPr>
              <a:t>Update rule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229600" y="3950208"/>
            <a:ext cx="548640" cy="274320"/>
          </a:xfrm>
          <a:prstGeom prst="rect">
            <a:avLst/>
          </a:prstGeom>
          <a:solidFill>
            <a:srgbClr val="B5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229600" y="395020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DELETE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851392" y="3950208"/>
            <a:ext cx="28803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onsolas"/>
              </a:rPr>
              <a:t>/alerts/rules/{id}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851392" y="4224528"/>
            <a:ext cx="28803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4A3B8"/>
                </a:solidFill>
                <a:latin typeface="Calibri"/>
              </a:rPr>
              <a:t>Delete rule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229600" y="4672584"/>
            <a:ext cx="548640" cy="274320"/>
          </a:xfrm>
          <a:prstGeom prst="rect">
            <a:avLst/>
          </a:prstGeom>
          <a:solidFill>
            <a:srgbClr val="0F6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229600" y="4672584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POST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851392" y="4672584"/>
            <a:ext cx="28803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onsolas"/>
              </a:rPr>
              <a:t>/alerts/test/{id}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851392" y="4946904"/>
            <a:ext cx="28803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4A3B8"/>
                </a:solidFill>
                <a:latin typeface="Calibri"/>
              </a:rPr>
              <a:t>Test-fire rule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74320" y="5760720"/>
            <a:ext cx="11612880" cy="850392"/>
          </a:xfrm>
          <a:prstGeom prst="rect">
            <a:avLst/>
          </a:prstGeom>
          <a:solidFill>
            <a:srgbClr val="061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274320" y="5760720"/>
            <a:ext cx="11612880" cy="45720"/>
          </a:xfrm>
          <a:prstGeom prst="rect">
            <a:avLst/>
          </a:prstGeom>
          <a:solidFill>
            <a:srgbClr val="1A5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57200" y="587044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56AA"/>
                </a:solidFill>
                <a:latin typeface="Calibri"/>
              </a:rPr>
              <a:t>WebSocket: 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828800" y="5870448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Consolas"/>
              </a:rPr>
              <a:t>wss://api.opslens.ai/ws/chat/{session_id}  →  Streams: token · sources · done · error  (newline-delimited JSON)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57200" y="619963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4A3B8"/>
                </a:solidFill>
                <a:latin typeface="Calibri"/>
              </a:rPr>
              <a:t>All endpoints require: Authorization: Bearer &lt;JWT&gt;  |  RS256, claims: tenant_id · user_id · role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4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336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Georgia"/>
              </a:rPr>
              <a:t>Database Schema — PostgreSQL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  <a:latin typeface="Calibri"/>
              </a:rPr>
              <a:t>Multi-tenant via tenant_id on every table  ·  UUID PKs  ·  JSONB for flexible metadata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2788920" cy="2331720"/>
          </a:xfrm>
          <a:prstGeom prst="rect">
            <a:avLst/>
          </a:prstGeom>
          <a:solidFill>
            <a:srgbClr val="0C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2788920" cy="320040"/>
          </a:xfrm>
          <a:prstGeom prst="rect">
            <a:avLst/>
          </a:prstGeom>
          <a:solidFill>
            <a:srgbClr val="0A3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225296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ADCFC"/>
                </a:solidFill>
                <a:latin typeface="Consolas"/>
              </a:rPr>
              <a:t>tenants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" y="1581912"/>
            <a:ext cx="2679191" cy="274320"/>
          </a:xfrm>
          <a:prstGeom prst="rect">
            <a:avLst/>
          </a:prstGeom>
          <a:solidFill>
            <a:srgbClr val="0E2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600200"/>
            <a:ext cx="262432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EFF8"/>
                </a:solidFill>
                <a:latin typeface="Consolas"/>
              </a:rPr>
              <a:t>id UUID PK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901952"/>
            <a:ext cx="262432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EFF8"/>
                </a:solidFill>
                <a:latin typeface="Consolas"/>
              </a:rPr>
              <a:t>name TEXT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" y="2185416"/>
            <a:ext cx="2679191" cy="274320"/>
          </a:xfrm>
          <a:prstGeom prst="rect">
            <a:avLst/>
          </a:prstGeom>
          <a:solidFill>
            <a:srgbClr val="0E2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2203704"/>
            <a:ext cx="262432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EFF8"/>
                </a:solidFill>
                <a:latin typeface="Consolas"/>
              </a:rPr>
              <a:t>slug TEXT UNIQUE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505456"/>
            <a:ext cx="262432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EFF8"/>
                </a:solidFill>
                <a:latin typeface="Consolas"/>
              </a:rPr>
              <a:t>plan TEXT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9184" y="2788920"/>
            <a:ext cx="2679191" cy="274320"/>
          </a:xfrm>
          <a:prstGeom prst="rect">
            <a:avLst/>
          </a:prstGeom>
          <a:solidFill>
            <a:srgbClr val="0E2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2807208"/>
            <a:ext cx="262432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EFF8"/>
                </a:solidFill>
                <a:latin typeface="Consolas"/>
              </a:rPr>
              <a:t>settings JSONB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3108960"/>
            <a:ext cx="262432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EFF8"/>
                </a:solidFill>
                <a:latin typeface="Consolas"/>
              </a:rPr>
              <a:t>created_at TIMESTAMPTZ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46120" y="1188720"/>
            <a:ext cx="2788920" cy="2331720"/>
          </a:xfrm>
          <a:prstGeom prst="rect">
            <a:avLst/>
          </a:prstGeom>
          <a:solidFill>
            <a:srgbClr val="0C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46120" y="1188720"/>
            <a:ext cx="2788920" cy="320040"/>
          </a:xfrm>
          <a:prstGeom prst="rect">
            <a:avLst/>
          </a:prstGeom>
          <a:solidFill>
            <a:srgbClr val="0A3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37560" y="1225296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ADCFC"/>
                </a:solidFill>
                <a:latin typeface="Consolas"/>
              </a:rPr>
              <a:t>users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00984" y="1581912"/>
            <a:ext cx="2679191" cy="274320"/>
          </a:xfrm>
          <a:prstGeom prst="rect">
            <a:avLst/>
          </a:prstGeom>
          <a:solidFill>
            <a:srgbClr val="0E2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37560" y="1600200"/>
            <a:ext cx="262432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EFF8"/>
                </a:solidFill>
                <a:latin typeface="Consolas"/>
              </a:rPr>
              <a:t>id UUID PK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37560" y="1901952"/>
            <a:ext cx="262432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EFF8"/>
                </a:solidFill>
                <a:latin typeface="Consolas"/>
              </a:rPr>
              <a:t>tenant_id UUID FK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00984" y="2185416"/>
            <a:ext cx="2679191" cy="274320"/>
          </a:xfrm>
          <a:prstGeom prst="rect">
            <a:avLst/>
          </a:prstGeom>
          <a:solidFill>
            <a:srgbClr val="0E2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37560" y="2203704"/>
            <a:ext cx="262432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EFF8"/>
                </a:solidFill>
                <a:latin typeface="Consolas"/>
              </a:rPr>
              <a:t>external_id TEXT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37560" y="2505456"/>
            <a:ext cx="262432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EFF8"/>
                </a:solidFill>
                <a:latin typeface="Consolas"/>
              </a:rPr>
              <a:t>email TEXT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00984" y="2788920"/>
            <a:ext cx="2679191" cy="274320"/>
          </a:xfrm>
          <a:prstGeom prst="rect">
            <a:avLst/>
          </a:prstGeom>
          <a:solidFill>
            <a:srgbClr val="0E2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37560" y="2807208"/>
            <a:ext cx="262432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EFF8"/>
                </a:solidFill>
                <a:latin typeface="Consolas"/>
              </a:rPr>
              <a:t>role TEXT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37560" y="3108960"/>
            <a:ext cx="262432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EFF8"/>
                </a:solidFill>
                <a:latin typeface="Consolas"/>
              </a:rPr>
              <a:t>last_active_at TIMESTAMPTZ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1188720"/>
            <a:ext cx="2788920" cy="2331720"/>
          </a:xfrm>
          <a:prstGeom prst="rect">
            <a:avLst/>
          </a:prstGeom>
          <a:solidFill>
            <a:srgbClr val="0C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17920" y="1188720"/>
            <a:ext cx="2788920" cy="320040"/>
          </a:xfrm>
          <a:prstGeom prst="rect">
            <a:avLst/>
          </a:prstGeom>
          <a:solidFill>
            <a:srgbClr val="0A3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59" y="1225296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ADCFC"/>
                </a:solidFill>
                <a:latin typeface="Consolas"/>
              </a:rPr>
              <a:t>integrations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72783" y="1581912"/>
            <a:ext cx="2679191" cy="274320"/>
          </a:xfrm>
          <a:prstGeom prst="rect">
            <a:avLst/>
          </a:prstGeom>
          <a:solidFill>
            <a:srgbClr val="0E2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09359" y="1600200"/>
            <a:ext cx="262432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EFF8"/>
                </a:solidFill>
                <a:latin typeface="Consolas"/>
              </a:rPr>
              <a:t>id UUID PK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59" y="1901952"/>
            <a:ext cx="262432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EFF8"/>
                </a:solidFill>
                <a:latin typeface="Consolas"/>
              </a:rPr>
              <a:t>tenant_id UUID FK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72783" y="2185416"/>
            <a:ext cx="2679191" cy="274320"/>
          </a:xfrm>
          <a:prstGeom prst="rect">
            <a:avLst/>
          </a:prstGeom>
          <a:solidFill>
            <a:srgbClr val="0E2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09359" y="2203704"/>
            <a:ext cx="262432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EFF8"/>
                </a:solidFill>
                <a:latin typeface="Consolas"/>
              </a:rPr>
              <a:t>source_type TEXT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9359" y="2505456"/>
            <a:ext cx="262432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EFF8"/>
                </a:solidFill>
                <a:latin typeface="Consolas"/>
              </a:rPr>
              <a:t>status TEXT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72783" y="2788920"/>
            <a:ext cx="2679191" cy="274320"/>
          </a:xfrm>
          <a:prstGeom prst="rect">
            <a:avLst/>
          </a:prstGeom>
          <a:solidFill>
            <a:srgbClr val="0E2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09359" y="2807208"/>
            <a:ext cx="262432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EFF8"/>
                </a:solidFill>
                <a:latin typeface="Consolas"/>
              </a:rPr>
              <a:t>credentials JSONB (enc)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9359" y="3108960"/>
            <a:ext cx="262432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EFF8"/>
                </a:solidFill>
                <a:latin typeface="Consolas"/>
              </a:rPr>
              <a:t>last_synced_at TIMESTAMPTZ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189720" y="1188720"/>
            <a:ext cx="2788920" cy="2331720"/>
          </a:xfrm>
          <a:prstGeom prst="rect">
            <a:avLst/>
          </a:prstGeom>
          <a:solidFill>
            <a:srgbClr val="0C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189720" y="1188720"/>
            <a:ext cx="2788920" cy="320040"/>
          </a:xfrm>
          <a:prstGeom prst="rect">
            <a:avLst/>
          </a:prstGeom>
          <a:solidFill>
            <a:srgbClr val="0A3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281160" y="1225296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ADCFC"/>
                </a:solidFill>
                <a:latin typeface="Consolas"/>
              </a:rPr>
              <a:t>canonical_documents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244584" y="1581912"/>
            <a:ext cx="2679191" cy="274320"/>
          </a:xfrm>
          <a:prstGeom prst="rect">
            <a:avLst/>
          </a:prstGeom>
          <a:solidFill>
            <a:srgbClr val="0E2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281160" y="1600200"/>
            <a:ext cx="262432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EFF8"/>
                </a:solidFill>
                <a:latin typeface="Consolas"/>
              </a:rPr>
              <a:t>id UUID PK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81160" y="1901952"/>
            <a:ext cx="262432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EFF8"/>
                </a:solidFill>
                <a:latin typeface="Consolas"/>
              </a:rPr>
              <a:t>tenant_id UUID FK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244584" y="2185416"/>
            <a:ext cx="2679191" cy="274320"/>
          </a:xfrm>
          <a:prstGeom prst="rect">
            <a:avLst/>
          </a:prstGeom>
          <a:solidFill>
            <a:srgbClr val="0E2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281160" y="2203704"/>
            <a:ext cx="262432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EFF8"/>
                </a:solidFill>
                <a:latin typeface="Consolas"/>
              </a:rPr>
              <a:t>source_type TEXT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81160" y="2505456"/>
            <a:ext cx="262432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EFF8"/>
                </a:solidFill>
                <a:latin typeface="Consolas"/>
              </a:rPr>
              <a:t>content_hash TEXT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244584" y="2788920"/>
            <a:ext cx="2679191" cy="274320"/>
          </a:xfrm>
          <a:prstGeom prst="rect">
            <a:avLst/>
          </a:prstGeom>
          <a:solidFill>
            <a:srgbClr val="0E2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281160" y="2807208"/>
            <a:ext cx="262432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EFF8"/>
                </a:solidFill>
                <a:latin typeface="Consolas"/>
              </a:rPr>
              <a:t>content TEXT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281160" y="3108960"/>
            <a:ext cx="262432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EFF8"/>
                </a:solidFill>
                <a:latin typeface="Consolas"/>
              </a:rPr>
              <a:t>embedding_status TEXT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74320" y="3749039"/>
            <a:ext cx="2788920" cy="2331720"/>
          </a:xfrm>
          <a:prstGeom prst="rect">
            <a:avLst/>
          </a:prstGeom>
          <a:solidFill>
            <a:srgbClr val="0C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274320" y="3749039"/>
            <a:ext cx="2788920" cy="320040"/>
          </a:xfrm>
          <a:prstGeom prst="rect">
            <a:avLst/>
          </a:prstGeom>
          <a:solidFill>
            <a:srgbClr val="0A3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65760" y="3785615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ADCFC"/>
                </a:solidFill>
                <a:latin typeface="Consolas"/>
              </a:rPr>
              <a:t>insights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29184" y="4142231"/>
            <a:ext cx="2679191" cy="274320"/>
          </a:xfrm>
          <a:prstGeom prst="rect">
            <a:avLst/>
          </a:prstGeom>
          <a:solidFill>
            <a:srgbClr val="0E2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65760" y="4160519"/>
            <a:ext cx="262432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EFF8"/>
                </a:solidFill>
                <a:latin typeface="Consolas"/>
              </a:rPr>
              <a:t>id UUID PK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65760" y="4462271"/>
            <a:ext cx="262432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EFF8"/>
                </a:solidFill>
                <a:latin typeface="Consolas"/>
              </a:rPr>
              <a:t>tenant_id UUID FK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29184" y="4745736"/>
            <a:ext cx="2679191" cy="274320"/>
          </a:xfrm>
          <a:prstGeom prst="rect">
            <a:avLst/>
          </a:prstGeom>
          <a:solidFill>
            <a:srgbClr val="0E2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65760" y="4764023"/>
            <a:ext cx="262432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EFF8"/>
                </a:solidFill>
                <a:latin typeface="Consolas"/>
              </a:rPr>
              <a:t>insight_type TEXT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65760" y="5065775"/>
            <a:ext cx="262432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EFF8"/>
                </a:solidFill>
                <a:latin typeface="Consolas"/>
              </a:rPr>
              <a:t>title TEXT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29184" y="5349240"/>
            <a:ext cx="2679191" cy="274320"/>
          </a:xfrm>
          <a:prstGeom prst="rect">
            <a:avLst/>
          </a:prstGeom>
          <a:solidFill>
            <a:srgbClr val="0E2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65760" y="5367527"/>
            <a:ext cx="262432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EFF8"/>
                </a:solidFill>
                <a:latin typeface="Consolas"/>
              </a:rPr>
              <a:t>summary TEXT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65760" y="5669279"/>
            <a:ext cx="262432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EFF8"/>
                </a:solidFill>
                <a:latin typeface="Consolas"/>
              </a:rPr>
              <a:t>magnitude NUMERIC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29184" y="5952744"/>
            <a:ext cx="2679191" cy="274320"/>
          </a:xfrm>
          <a:prstGeom prst="rect">
            <a:avLst/>
          </a:prstGeom>
          <a:solidFill>
            <a:srgbClr val="0E2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65760" y="5971031"/>
            <a:ext cx="262432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EFF8"/>
                </a:solidFill>
                <a:latin typeface="Consolas"/>
              </a:rPr>
              <a:t>status TEXT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246120" y="3749039"/>
            <a:ext cx="2788920" cy="2331720"/>
          </a:xfrm>
          <a:prstGeom prst="rect">
            <a:avLst/>
          </a:prstGeom>
          <a:solidFill>
            <a:srgbClr val="0C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3246120" y="3749039"/>
            <a:ext cx="2788920" cy="320040"/>
          </a:xfrm>
          <a:prstGeom prst="rect">
            <a:avLst/>
          </a:prstGeom>
          <a:solidFill>
            <a:srgbClr val="0A3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337560" y="3785615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ADCFC"/>
                </a:solidFill>
                <a:latin typeface="Consolas"/>
              </a:rPr>
              <a:t>alert_rules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300984" y="4142231"/>
            <a:ext cx="2679191" cy="274320"/>
          </a:xfrm>
          <a:prstGeom prst="rect">
            <a:avLst/>
          </a:prstGeom>
          <a:solidFill>
            <a:srgbClr val="0E2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337560" y="4160519"/>
            <a:ext cx="262432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EFF8"/>
                </a:solidFill>
                <a:latin typeface="Consolas"/>
              </a:rPr>
              <a:t>id UUID PK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337560" y="4462271"/>
            <a:ext cx="262432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EFF8"/>
                </a:solidFill>
                <a:latin typeface="Consolas"/>
              </a:rPr>
              <a:t>tenant_id UUID FK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300984" y="4745736"/>
            <a:ext cx="2679191" cy="274320"/>
          </a:xfrm>
          <a:prstGeom prst="rect">
            <a:avLst/>
          </a:prstGeom>
          <a:solidFill>
            <a:srgbClr val="0E2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337560" y="4764023"/>
            <a:ext cx="262432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EFF8"/>
                </a:solidFill>
                <a:latin typeface="Consolas"/>
              </a:rPr>
              <a:t>name TEXT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337560" y="5065775"/>
            <a:ext cx="262432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EFF8"/>
                </a:solidFill>
                <a:latin typeface="Consolas"/>
              </a:rPr>
              <a:t>condition JSONB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300984" y="5349240"/>
            <a:ext cx="2679191" cy="274320"/>
          </a:xfrm>
          <a:prstGeom prst="rect">
            <a:avLst/>
          </a:prstGeom>
          <a:solidFill>
            <a:srgbClr val="0E2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3337560" y="5367527"/>
            <a:ext cx="262432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EFF8"/>
                </a:solidFill>
                <a:latin typeface="Consolas"/>
              </a:rPr>
              <a:t>channels TEXT[]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337560" y="5669279"/>
            <a:ext cx="262432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EFF8"/>
                </a:solidFill>
                <a:latin typeface="Consolas"/>
              </a:rPr>
              <a:t>cooldown_hours INT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300984" y="5952744"/>
            <a:ext cx="2679191" cy="274320"/>
          </a:xfrm>
          <a:prstGeom prst="rect">
            <a:avLst/>
          </a:prstGeom>
          <a:solidFill>
            <a:srgbClr val="0E2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337560" y="5971031"/>
            <a:ext cx="262432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EFF8"/>
                </a:solidFill>
                <a:latin typeface="Consolas"/>
              </a:rPr>
              <a:t>enabled BOOL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217920" y="3749039"/>
            <a:ext cx="2788920" cy="2331720"/>
          </a:xfrm>
          <a:prstGeom prst="rect">
            <a:avLst/>
          </a:prstGeom>
          <a:solidFill>
            <a:srgbClr val="0C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217920" y="3749039"/>
            <a:ext cx="2788920" cy="320040"/>
          </a:xfrm>
          <a:prstGeom prst="rect">
            <a:avLst/>
          </a:prstGeom>
          <a:solidFill>
            <a:srgbClr val="0A3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59" y="3785615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ADCFC"/>
                </a:solidFill>
                <a:latin typeface="Consolas"/>
              </a:rPr>
              <a:t>chat_sessions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272783" y="4142231"/>
            <a:ext cx="2679191" cy="274320"/>
          </a:xfrm>
          <a:prstGeom prst="rect">
            <a:avLst/>
          </a:prstGeom>
          <a:solidFill>
            <a:srgbClr val="0E2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309359" y="4160519"/>
            <a:ext cx="262432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EFF8"/>
                </a:solidFill>
                <a:latin typeface="Consolas"/>
              </a:rPr>
              <a:t>id UUID PK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309359" y="4462271"/>
            <a:ext cx="262432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EFF8"/>
                </a:solidFill>
                <a:latin typeface="Consolas"/>
              </a:rPr>
              <a:t>tenant_id UUID FK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272783" y="4745736"/>
            <a:ext cx="2679191" cy="274320"/>
          </a:xfrm>
          <a:prstGeom prst="rect">
            <a:avLst/>
          </a:prstGeom>
          <a:solidFill>
            <a:srgbClr val="0E2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309359" y="4764023"/>
            <a:ext cx="262432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EFF8"/>
                </a:solidFill>
                <a:latin typeface="Consolas"/>
              </a:rPr>
              <a:t>user_id UUID FK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309359" y="5065775"/>
            <a:ext cx="262432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EFF8"/>
                </a:solidFill>
                <a:latin typeface="Consolas"/>
              </a:rPr>
              <a:t>title TEXT</a:t>
            </a:r>
          </a:p>
        </p:txBody>
      </p:sp>
      <p:sp>
        <p:nvSpPr>
          <p:cNvPr id="91" name="Rectangle 90"/>
          <p:cNvSpPr/>
          <p:nvPr/>
        </p:nvSpPr>
        <p:spPr>
          <a:xfrm>
            <a:off x="6272783" y="5349240"/>
            <a:ext cx="2679191" cy="274320"/>
          </a:xfrm>
          <a:prstGeom prst="rect">
            <a:avLst/>
          </a:prstGeom>
          <a:solidFill>
            <a:srgbClr val="0E2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309359" y="5367527"/>
            <a:ext cx="262432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EFF8"/>
                </a:solidFill>
                <a:latin typeface="Consolas"/>
              </a:rPr>
              <a:t>created_at TIMESTAMPTZ</a:t>
            </a:r>
          </a:p>
        </p:txBody>
      </p:sp>
      <p:sp>
        <p:nvSpPr>
          <p:cNvPr id="93" name="Rectangle 92"/>
          <p:cNvSpPr/>
          <p:nvPr/>
        </p:nvSpPr>
        <p:spPr>
          <a:xfrm>
            <a:off x="9189720" y="3749039"/>
            <a:ext cx="2788920" cy="2331720"/>
          </a:xfrm>
          <a:prstGeom prst="rect">
            <a:avLst/>
          </a:prstGeom>
          <a:solidFill>
            <a:srgbClr val="0C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9189720" y="3749039"/>
            <a:ext cx="2788920" cy="320040"/>
          </a:xfrm>
          <a:prstGeom prst="rect">
            <a:avLst/>
          </a:prstGeom>
          <a:solidFill>
            <a:srgbClr val="0A3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9281160" y="3785615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ADCFC"/>
                </a:solidFill>
                <a:latin typeface="Consolas"/>
              </a:rPr>
              <a:t>chat_messages</a:t>
            </a:r>
          </a:p>
        </p:txBody>
      </p:sp>
      <p:sp>
        <p:nvSpPr>
          <p:cNvPr id="96" name="Rectangle 95"/>
          <p:cNvSpPr/>
          <p:nvPr/>
        </p:nvSpPr>
        <p:spPr>
          <a:xfrm>
            <a:off x="9244584" y="4142231"/>
            <a:ext cx="2679191" cy="274320"/>
          </a:xfrm>
          <a:prstGeom prst="rect">
            <a:avLst/>
          </a:prstGeom>
          <a:solidFill>
            <a:srgbClr val="0E2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9281160" y="4160519"/>
            <a:ext cx="262432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EFF8"/>
                </a:solidFill>
                <a:latin typeface="Consolas"/>
              </a:rPr>
              <a:t>id UUID PK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9281160" y="4462271"/>
            <a:ext cx="262432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EFF8"/>
                </a:solidFill>
                <a:latin typeface="Consolas"/>
              </a:rPr>
              <a:t>session_id UUID FK</a:t>
            </a:r>
          </a:p>
        </p:txBody>
      </p:sp>
      <p:sp>
        <p:nvSpPr>
          <p:cNvPr id="99" name="Rectangle 98"/>
          <p:cNvSpPr/>
          <p:nvPr/>
        </p:nvSpPr>
        <p:spPr>
          <a:xfrm>
            <a:off x="9244584" y="4745736"/>
            <a:ext cx="2679191" cy="274320"/>
          </a:xfrm>
          <a:prstGeom prst="rect">
            <a:avLst/>
          </a:prstGeom>
          <a:solidFill>
            <a:srgbClr val="0E2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9281160" y="4764023"/>
            <a:ext cx="262432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EFF8"/>
                </a:solidFill>
                <a:latin typeface="Consolas"/>
              </a:rPr>
              <a:t>role TEXT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9281160" y="5065775"/>
            <a:ext cx="262432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EFF8"/>
                </a:solidFill>
                <a:latin typeface="Consolas"/>
              </a:rPr>
              <a:t>content TEXT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9244584" y="5349240"/>
            <a:ext cx="2679191" cy="274320"/>
          </a:xfrm>
          <a:prstGeom prst="rect">
            <a:avLst/>
          </a:prstGeom>
          <a:solidFill>
            <a:srgbClr val="0E2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9281160" y="5367527"/>
            <a:ext cx="262432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EFF8"/>
                </a:solidFill>
                <a:latin typeface="Consolas"/>
              </a:rPr>
              <a:t>source_doc_ids UUID[]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9281160" y="5669279"/>
            <a:ext cx="262432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EFF8"/>
                </a:solidFill>
                <a:latin typeface="Consolas"/>
              </a:rPr>
              <a:t>feedback SMALLINT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274320" y="6263640"/>
            <a:ext cx="11612880" cy="411480"/>
          </a:xfrm>
          <a:prstGeom prst="rect">
            <a:avLst/>
          </a:prstGeom>
          <a:solidFill>
            <a:srgbClr val="061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457200" y="629107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4A3B8"/>
                </a:solidFill>
                <a:latin typeface="Calibri"/>
              </a:rPr>
              <a:t>Key indexes: tenant_id on all tables · content_hash (dedup) · embedding_status WHERE = 'pending' · pg_trgm on title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4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Georgia"/>
              </a:rPr>
              <a:t>AI Insight Engine — Pattern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C518"/>
                </a:solidFill>
                <a:latin typeface="Calibri"/>
              </a:rPr>
              <a:t>Five detectors · Celery Beat · GPT-4o structured output · Auto-persisted insights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2212848" cy="4389120"/>
          </a:xfrm>
          <a:prstGeom prst="rect">
            <a:avLst/>
          </a:prstGeom>
          <a:solidFill>
            <a:srgbClr val="0E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2212848" cy="64008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261872"/>
            <a:ext cx="20756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8C42"/>
                </a:solidFill>
                <a:latin typeface="Calibri"/>
              </a:rPr>
              <a:t>Complaint Spike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737360"/>
            <a:ext cx="2029967" cy="18288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792224"/>
            <a:ext cx="204825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  <a:latin typeface="Calibri"/>
              </a:rPr>
              <a:t>Sources: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029968"/>
            <a:ext cx="20482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alibri"/>
              </a:rPr>
              <a:t>Zendesk + Slack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377440"/>
            <a:ext cx="204825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  <a:latin typeface="Calibri"/>
              </a:rPr>
              <a:t>Detection Logic: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615184"/>
            <a:ext cx="20482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FF8"/>
                </a:solidFill>
                <a:latin typeface="Calibri"/>
              </a:rPr>
              <a:t>Rolling 7-day count vs 2σ historical baseline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273552"/>
            <a:ext cx="204825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  <a:latin typeface="Calibri"/>
              </a:rPr>
              <a:t>Example Output: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547872"/>
            <a:ext cx="2029967" cy="658368"/>
          </a:xfrm>
          <a:prstGeom prst="rect">
            <a:avLst/>
          </a:prstGeom>
          <a:solidFill>
            <a:srgbClr val="06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79" y="3566160"/>
            <a:ext cx="1956815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F8C42"/>
                </a:solidFill>
                <a:latin typeface="Calibri"/>
              </a:rPr>
              <a:t>"Checkout complaints up 35% this week"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4297680"/>
            <a:ext cx="20482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⏱ Every hour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24327" y="1188720"/>
            <a:ext cx="2212848" cy="4389120"/>
          </a:xfrm>
          <a:prstGeom prst="rect">
            <a:avLst/>
          </a:prstGeom>
          <a:solidFill>
            <a:srgbClr val="0E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624327" y="1188720"/>
            <a:ext cx="2212848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15768" y="1261872"/>
            <a:ext cx="20756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  <a:latin typeface="Calibri"/>
              </a:rPr>
              <a:t>Feature Trend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15768" y="1737360"/>
            <a:ext cx="2029967" cy="182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15768" y="1792224"/>
            <a:ext cx="204825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  <a:latin typeface="Calibri"/>
              </a:rPr>
              <a:t>Sources: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15768" y="2029968"/>
            <a:ext cx="20482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alibri"/>
              </a:rPr>
              <a:t>Jira + Zendesk + Slack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15768" y="2377440"/>
            <a:ext cx="204825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  <a:latin typeface="Calibri"/>
              </a:rPr>
              <a:t>Detection Logic: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15768" y="2615184"/>
            <a:ext cx="20482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FF8"/>
                </a:solidFill>
                <a:latin typeface="Calibri"/>
              </a:rPr>
              <a:t>Cluster feature-request items; count per cluster per 30 days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15768" y="3273552"/>
            <a:ext cx="204825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  <a:latin typeface="Calibri"/>
              </a:rPr>
              <a:t>Example Output: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15768" y="3547872"/>
            <a:ext cx="2029967" cy="658368"/>
          </a:xfrm>
          <a:prstGeom prst="rect">
            <a:avLst/>
          </a:prstGeom>
          <a:solidFill>
            <a:srgbClr val="06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61487" y="3566160"/>
            <a:ext cx="1956815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00B4D8"/>
                </a:solidFill>
                <a:latin typeface="Calibri"/>
              </a:rPr>
              <a:t>"Dark mode requested by 28 customers"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15768" y="4297680"/>
            <a:ext cx="20482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⏱ Every 2 hours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974336" y="1188720"/>
            <a:ext cx="2212848" cy="4389120"/>
          </a:xfrm>
          <a:prstGeom prst="rect">
            <a:avLst/>
          </a:prstGeom>
          <a:solidFill>
            <a:srgbClr val="0E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974336" y="1188720"/>
            <a:ext cx="2212848" cy="64008"/>
          </a:xfrm>
          <a:prstGeom prst="rect">
            <a:avLst/>
          </a:prstGeom>
          <a:solidFill>
            <a:srgbClr val="06C2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65775" y="1261872"/>
            <a:ext cx="20756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C273"/>
                </a:solidFill>
                <a:latin typeface="Calibri"/>
              </a:rPr>
              <a:t>Release Correlation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65775" y="1737360"/>
            <a:ext cx="2029967" cy="18288"/>
          </a:xfrm>
          <a:prstGeom prst="rect">
            <a:avLst/>
          </a:prstGeom>
          <a:solidFill>
            <a:srgbClr val="06C2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65775" y="1792224"/>
            <a:ext cx="204825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  <a:latin typeface="Calibri"/>
              </a:rPr>
              <a:t>Sources: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65775" y="2029968"/>
            <a:ext cx="20482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alibri"/>
              </a:rPr>
              <a:t>GitHub + Jira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65775" y="2377440"/>
            <a:ext cx="204825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  <a:latin typeface="Calibri"/>
              </a:rPr>
              <a:t>Detection Logic: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65775" y="2615184"/>
            <a:ext cx="20482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FF8"/>
                </a:solidFill>
                <a:latin typeface="Calibri"/>
              </a:rPr>
              <a:t>Pearson correlation of release tags vs error spike windows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65775" y="3273552"/>
            <a:ext cx="204825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  <a:latin typeface="Calibri"/>
              </a:rPr>
              <a:t>Example Output: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65775" y="3547872"/>
            <a:ext cx="2029967" cy="658368"/>
          </a:xfrm>
          <a:prstGeom prst="rect">
            <a:avLst/>
          </a:prstGeom>
          <a:solidFill>
            <a:srgbClr val="06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11496" y="3566160"/>
            <a:ext cx="1956815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06C273"/>
                </a:solidFill>
                <a:latin typeface="Calibri"/>
              </a:rPr>
              <a:t>"v3.2 correlated with login error spike (+4σ)"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65775" y="4297680"/>
            <a:ext cx="20482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⏱ On new release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324344" y="1188720"/>
            <a:ext cx="2212848" cy="4389120"/>
          </a:xfrm>
          <a:prstGeom prst="rect">
            <a:avLst/>
          </a:prstGeom>
          <a:solidFill>
            <a:srgbClr val="0E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324344" y="1188720"/>
            <a:ext cx="2212848" cy="64008"/>
          </a:xfrm>
          <a:prstGeom prst="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415783" y="1261872"/>
            <a:ext cx="20756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5C5C"/>
                </a:solidFill>
                <a:latin typeface="Calibri"/>
              </a:rPr>
              <a:t>Eng Bottleneck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415783" y="1737360"/>
            <a:ext cx="2029967" cy="18288"/>
          </a:xfrm>
          <a:prstGeom prst="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415783" y="1792224"/>
            <a:ext cx="204825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  <a:latin typeface="Calibri"/>
              </a:rPr>
              <a:t>Sources: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15783" y="2029968"/>
            <a:ext cx="20482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alibri"/>
              </a:rPr>
              <a:t>Jira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15783" y="2377440"/>
            <a:ext cx="204825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  <a:latin typeface="Calibri"/>
              </a:rPr>
              <a:t>Detection Logic: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415783" y="2615184"/>
            <a:ext cx="20482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FF8"/>
                </a:solidFill>
                <a:latin typeface="Calibri"/>
              </a:rPr>
              <a:t>In-Progress tickets, no update &gt; 5 days, grouped by assignee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415783" y="3273552"/>
            <a:ext cx="204825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  <a:latin typeface="Calibri"/>
              </a:rPr>
              <a:t>Example Output: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415783" y="3547872"/>
            <a:ext cx="2029967" cy="658368"/>
          </a:xfrm>
          <a:prstGeom prst="rect">
            <a:avLst/>
          </a:prstGeom>
          <a:solidFill>
            <a:srgbClr val="06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461504" y="3566160"/>
            <a:ext cx="1956815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F5C5C"/>
                </a:solidFill>
                <a:latin typeface="Calibri"/>
              </a:rPr>
              <a:t>"6 tickets stalled &gt;5 days in Payments squad"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415783" y="4297680"/>
            <a:ext cx="20482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⏱ Every 6 hours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674352" y="1188720"/>
            <a:ext cx="2212848" cy="4389120"/>
          </a:xfrm>
          <a:prstGeom prst="rect">
            <a:avLst/>
          </a:prstGeom>
          <a:solidFill>
            <a:srgbClr val="0E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9674352" y="1188720"/>
            <a:ext cx="2212848" cy="6400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765792" y="1261872"/>
            <a:ext cx="20756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C518"/>
                </a:solidFill>
                <a:latin typeface="Calibri"/>
              </a:rPr>
              <a:t>Churn Risk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765792" y="1737360"/>
            <a:ext cx="2029967" cy="1828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765792" y="1792224"/>
            <a:ext cx="204825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  <a:latin typeface="Calibri"/>
              </a:rPr>
              <a:t>Sources: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765792" y="2029968"/>
            <a:ext cx="20482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alibri"/>
              </a:rPr>
              <a:t>Zendesk + HubSpot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765792" y="2377440"/>
            <a:ext cx="204825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  <a:latin typeface="Calibri"/>
              </a:rPr>
              <a:t>Detection Logic: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765792" y="2615184"/>
            <a:ext cx="20482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FF8"/>
                </a:solidFill>
                <a:latin typeface="Calibri"/>
              </a:rPr>
              <a:t>≥3 critical open tickets AND CRM renewal date &lt; 30 days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765792" y="3273552"/>
            <a:ext cx="204825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  <a:latin typeface="Calibri"/>
              </a:rPr>
              <a:t>Example Output: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765792" y="3547872"/>
            <a:ext cx="2029967" cy="658368"/>
          </a:xfrm>
          <a:prstGeom prst="rect">
            <a:avLst/>
          </a:prstGeom>
          <a:solidFill>
            <a:srgbClr val="06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811512" y="3566160"/>
            <a:ext cx="1956815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5C518"/>
                </a:solidFill>
                <a:latin typeface="Calibri"/>
              </a:rPr>
              <a:t>"Acme Corp: 4 criticals, renewal in 14 days"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765792" y="4297680"/>
            <a:ext cx="20482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⏱ Every hour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74320" y="5760720"/>
            <a:ext cx="11612880" cy="841248"/>
          </a:xfrm>
          <a:prstGeom prst="rect">
            <a:avLst/>
          </a:prstGeom>
          <a:solidFill>
            <a:srgbClr val="07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274320" y="5760720"/>
            <a:ext cx="11612880" cy="45720"/>
          </a:xfrm>
          <a:prstGeom prst="rect">
            <a:avLst/>
          </a:prstGeom>
          <a:solidFill>
            <a:srgbClr val="06C2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57200" y="587044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C273"/>
                </a:solidFill>
                <a:latin typeface="Calibri"/>
              </a:rPr>
              <a:t>LLM Pipeline: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194560" y="5870448"/>
            <a:ext cx="9692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FF8"/>
                </a:solidFill>
                <a:latin typeface="Consolas"/>
              </a:rPr>
              <a:t>Data samples  →  INSIGHT_PROMPT (ChatPromptTemplate)  →  GPT-4o  →  JSON parse  →  Insight saved to PostgreSQL  →  Alert Engine check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194560" y="6199632"/>
            <a:ext cx="9692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4A3B8"/>
                </a:solidFill>
                <a:latin typeface="Calibri"/>
              </a:rPr>
              <a:t>Structured output: { title, summary, magnitude, insight_type }  |  Fallback: insight_type='none' → skip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4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FF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Georgia"/>
              </a:rPr>
              <a:t>Deployment Architecture — AWS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A000"/>
                </a:solidFill>
                <a:latin typeface="Calibri"/>
              </a:rPr>
              <a:t>ECS Fargate · RDS PostgreSQL · ElastiCache · Qdrant on EC2 · CloudFront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11887200" cy="1005840"/>
          </a:xfrm>
          <a:prstGeom prst="rect">
            <a:avLst/>
          </a:prstGeom>
          <a:solidFill>
            <a:srgbClr val="0C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11887200" cy="64008"/>
          </a:xfrm>
          <a:prstGeom prst="rect">
            <a:avLst/>
          </a:prstGeom>
          <a:solidFill>
            <a:srgbClr val="1A5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28016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56AA"/>
                </a:solidFill>
                <a:latin typeface="Calibri"/>
              </a:rPr>
              <a:t>Internet Layer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" y="1627632"/>
            <a:ext cx="3736848" cy="475488"/>
          </a:xfrm>
          <a:prstGeom prst="rect">
            <a:avLst/>
          </a:prstGeom>
          <a:solidFill>
            <a:srgbClr val="0E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79" y="1645920"/>
            <a:ext cx="3645407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56AA"/>
                </a:solidFill>
                <a:latin typeface="Calibri"/>
              </a:rPr>
              <a:t>CloudFront CDN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1847088"/>
            <a:ext cx="3645407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Edge cache for Next.js static assets + API responses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48912" y="1627632"/>
            <a:ext cx="3736848" cy="475488"/>
          </a:xfrm>
          <a:prstGeom prst="rect">
            <a:avLst/>
          </a:prstGeom>
          <a:solidFill>
            <a:srgbClr val="0E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12920" y="1645920"/>
            <a:ext cx="3645407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56AA"/>
                </a:solidFill>
                <a:latin typeface="Calibri"/>
              </a:rPr>
              <a:t>Route 53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12920" y="1847088"/>
            <a:ext cx="3645407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DNS: app.opslens.ai → CF, api.opslens.ai → ALB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50352" y="1627632"/>
            <a:ext cx="3736848" cy="475488"/>
          </a:xfrm>
          <a:prstGeom prst="rect">
            <a:avLst/>
          </a:prstGeom>
          <a:solidFill>
            <a:srgbClr val="0E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4360" y="1645920"/>
            <a:ext cx="3645407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56AA"/>
                </a:solidFill>
                <a:latin typeface="Calibri"/>
              </a:rPr>
              <a:t>ACM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4360" y="1847088"/>
            <a:ext cx="3645407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TLS 1.3 certificates for all endpoints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423160"/>
            <a:ext cx="11887200" cy="1005840"/>
          </a:xfrm>
          <a:prstGeom prst="rect">
            <a:avLst/>
          </a:prstGeom>
          <a:solidFill>
            <a:srgbClr val="0C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2423160"/>
            <a:ext cx="11887200" cy="64008"/>
          </a:xfrm>
          <a:prstGeom prst="rect">
            <a:avLst/>
          </a:prstGeom>
          <a:solidFill>
            <a:srgbClr val="06C2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251460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C273"/>
                </a:solidFill>
                <a:latin typeface="Calibri"/>
              </a:rPr>
              <a:t>Compute Layer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7472" y="2862072"/>
            <a:ext cx="3736848" cy="475488"/>
          </a:xfrm>
          <a:prstGeom prst="rect">
            <a:avLst/>
          </a:prstGeom>
          <a:solidFill>
            <a:srgbClr val="0E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79" y="2880360"/>
            <a:ext cx="3645407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C273"/>
                </a:solidFill>
                <a:latin typeface="Calibri"/>
              </a:rPr>
              <a:t>ECS Fargate — API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79" y="3081528"/>
            <a:ext cx="3645407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2 tasks · 1 vCPU / 2 GB · Auto-scales on CPU &gt; 70%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48912" y="2862072"/>
            <a:ext cx="3736848" cy="475488"/>
          </a:xfrm>
          <a:prstGeom prst="rect">
            <a:avLst/>
          </a:prstGeom>
          <a:solidFill>
            <a:srgbClr val="0E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12920" y="2880360"/>
            <a:ext cx="3645407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C273"/>
                </a:solidFill>
                <a:latin typeface="Calibri"/>
              </a:rPr>
              <a:t>ECS Fargate — Worker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12920" y="3081528"/>
            <a:ext cx="3645407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3 tasks · 2 vCPU / 4 GB · Scale on SQS queue depth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50352" y="2862072"/>
            <a:ext cx="3736848" cy="475488"/>
          </a:xfrm>
          <a:prstGeom prst="rect">
            <a:avLst/>
          </a:prstGeom>
          <a:solidFill>
            <a:srgbClr val="0E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14360" y="2880360"/>
            <a:ext cx="3645407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C273"/>
                </a:solidFill>
                <a:latin typeface="Calibri"/>
              </a:rPr>
              <a:t>ECS Fargate — Beat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14360" y="3081528"/>
            <a:ext cx="3645407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1 task · 0.5 vCPU / 1 GB · Celery Beat scheduler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3657600"/>
            <a:ext cx="11887200" cy="1005840"/>
          </a:xfrm>
          <a:prstGeom prst="rect">
            <a:avLst/>
          </a:prstGeom>
          <a:solidFill>
            <a:srgbClr val="0C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74320" y="3657600"/>
            <a:ext cx="11887200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80" y="3749039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  <a:latin typeface="Calibri"/>
              </a:rPr>
              <a:t>Data Layer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47472" y="4096512"/>
            <a:ext cx="3736848" cy="475488"/>
          </a:xfrm>
          <a:prstGeom prst="rect">
            <a:avLst/>
          </a:prstGeom>
          <a:solidFill>
            <a:srgbClr val="0E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79" y="4114800"/>
            <a:ext cx="3645407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  <a:latin typeface="Calibri"/>
              </a:rPr>
              <a:t>RDS PostgreSQL 16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79" y="4315968"/>
            <a:ext cx="3645407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db.t4g.medium · Multi-AZ · 7-day automated backup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248912" y="4096512"/>
            <a:ext cx="3736848" cy="475488"/>
          </a:xfrm>
          <a:prstGeom prst="rect">
            <a:avLst/>
          </a:prstGeom>
          <a:solidFill>
            <a:srgbClr val="0E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12920" y="4114800"/>
            <a:ext cx="3645407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  <a:latin typeface="Calibri"/>
              </a:rPr>
              <a:t>ElastiCache Redis 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12920" y="4315968"/>
            <a:ext cx="3645407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cache.t4g.small · In-memory queue + session cache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150352" y="4096512"/>
            <a:ext cx="3736848" cy="475488"/>
          </a:xfrm>
          <a:prstGeom prst="rect">
            <a:avLst/>
          </a:prstGeom>
          <a:solidFill>
            <a:srgbClr val="0E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14360" y="4114800"/>
            <a:ext cx="3645407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  <a:latin typeface="Calibri"/>
              </a:rPr>
              <a:t>EC2 Qdrant Cluster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14360" y="4315968"/>
            <a:ext cx="3645407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m6i.xlarge × 2 nodes · NVMe SSD · Daily S3 snapshots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" y="4892040"/>
            <a:ext cx="11887200" cy="1005840"/>
          </a:xfrm>
          <a:prstGeom prst="rect">
            <a:avLst/>
          </a:prstGeom>
          <a:solidFill>
            <a:srgbClr val="0C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74320" y="4892040"/>
            <a:ext cx="11887200" cy="64008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1480" y="4983479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8C42"/>
                </a:solidFill>
                <a:latin typeface="Calibri"/>
              </a:rPr>
              <a:t>Security &amp; Ops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47472" y="5330952"/>
            <a:ext cx="3736848" cy="475488"/>
          </a:xfrm>
          <a:prstGeom prst="rect">
            <a:avLst/>
          </a:prstGeom>
          <a:solidFill>
            <a:srgbClr val="0E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11479" y="5349240"/>
            <a:ext cx="3645407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8C42"/>
                </a:solidFill>
                <a:latin typeface="Calibri"/>
              </a:rPr>
              <a:t>Secrets Manager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11479" y="5550407"/>
            <a:ext cx="3645407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API keys, DB passwords, OAuth tokens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248912" y="5330952"/>
            <a:ext cx="3736848" cy="475488"/>
          </a:xfrm>
          <a:prstGeom prst="rect">
            <a:avLst/>
          </a:prstGeom>
          <a:solidFill>
            <a:srgbClr val="0E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312920" y="5349240"/>
            <a:ext cx="3645407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8C42"/>
                </a:solidFill>
                <a:latin typeface="Calibri"/>
              </a:rPr>
              <a:t>CloudWatch Logs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312920" y="5550407"/>
            <a:ext cx="3645407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Structured JSON logs, 7-day retention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150352" y="5330952"/>
            <a:ext cx="3736848" cy="475488"/>
          </a:xfrm>
          <a:prstGeom prst="rect">
            <a:avLst/>
          </a:prstGeom>
          <a:solidFill>
            <a:srgbClr val="0E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214360" y="5349240"/>
            <a:ext cx="3645407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8C42"/>
                </a:solidFill>
                <a:latin typeface="Calibri"/>
              </a:rPr>
              <a:t>GitHub Actions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14360" y="5550407"/>
            <a:ext cx="3645407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CI/CD: lint → test → build → ECR push → ECS deploy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74320" y="6080760"/>
            <a:ext cx="11612880" cy="548640"/>
          </a:xfrm>
          <a:prstGeom prst="rect">
            <a:avLst/>
          </a:prstGeom>
          <a:solidFill>
            <a:srgbClr val="061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57200" y="6153912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4A3B8"/>
                </a:solidFill>
                <a:latin typeface="Calibri"/>
              </a:rPr>
              <a:t>VPC: All compute on private subnets.  ALB: Public subnet, SSL termination, health checks.  Sentry: Error tracking (API + Next.js)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4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Georgia"/>
              </a:rPr>
              <a:t>Tech Stack &amp; MVP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  <a:latin typeface="Calibri"/>
              </a:rPr>
              <a:t>Full-stack overview  ·  12-week phased delivery plan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1828800" cy="749808"/>
          </a:xfrm>
          <a:prstGeom prst="rect">
            <a:avLst/>
          </a:prstGeom>
          <a:solidFill>
            <a:srgbClr val="0C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1828800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280160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B4D8"/>
                </a:solidFill>
                <a:latin typeface="Calibri"/>
              </a:rPr>
              <a:t>Backend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554480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FastAPI (Python)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0" y="1188720"/>
            <a:ext cx="1828800" cy="749808"/>
          </a:xfrm>
          <a:prstGeom prst="rect">
            <a:avLst/>
          </a:prstGeom>
          <a:solidFill>
            <a:srgbClr val="0C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286000" y="1188720"/>
            <a:ext cx="1828800" cy="64008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77440" y="1280160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ADCFC"/>
                </a:solidFill>
                <a:latin typeface="Calibri"/>
              </a:rPr>
              <a:t>Frontend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1554480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Next.js 14 + 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1188720"/>
            <a:ext cx="1828800" cy="749808"/>
          </a:xfrm>
          <a:prstGeom prst="rect">
            <a:avLst/>
          </a:prstGeom>
          <a:solidFill>
            <a:srgbClr val="0C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1188720"/>
            <a:ext cx="1828800" cy="64008"/>
          </a:xfrm>
          <a:prstGeom prst="rect">
            <a:avLst/>
          </a:prstGeom>
          <a:solidFill>
            <a:srgbClr val="336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1280160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36BCC"/>
                </a:solidFill>
                <a:latin typeface="Calibri"/>
              </a:rPr>
              <a:t>Database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1554480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PostgreSQL 16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103120"/>
            <a:ext cx="1828800" cy="749808"/>
          </a:xfrm>
          <a:prstGeom prst="rect">
            <a:avLst/>
          </a:prstGeom>
          <a:solidFill>
            <a:srgbClr val="0C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2103120"/>
            <a:ext cx="1828800" cy="64008"/>
          </a:xfrm>
          <a:prstGeom prst="rect">
            <a:avLst/>
          </a:prstGeom>
          <a:solidFill>
            <a:srgbClr val="06C2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2194560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6C273"/>
                </a:solidFill>
                <a:latin typeface="Calibri"/>
              </a:rPr>
              <a:t>Vector DB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2468879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Qdrant v1.9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86000" y="2103120"/>
            <a:ext cx="1828800" cy="749808"/>
          </a:xfrm>
          <a:prstGeom prst="rect">
            <a:avLst/>
          </a:prstGeom>
          <a:solidFill>
            <a:srgbClr val="0C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286000" y="2103120"/>
            <a:ext cx="1828800" cy="64008"/>
          </a:xfrm>
          <a:prstGeom prst="rect">
            <a:avLst/>
          </a:prstGeom>
          <a:solidFill>
            <a:srgbClr val="AA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377440" y="2194560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A60FF"/>
                </a:solidFill>
                <a:latin typeface="Calibri"/>
              </a:rPr>
              <a:t>AI / LLM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77440" y="2468879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GPT-4o + LangChain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97680" y="2103120"/>
            <a:ext cx="1828800" cy="749808"/>
          </a:xfrm>
          <a:prstGeom prst="rect">
            <a:avLst/>
          </a:prstGeom>
          <a:solidFill>
            <a:srgbClr val="0C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97680" y="2103120"/>
            <a:ext cx="1828800" cy="6400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89120" y="2194560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C518"/>
                </a:solidFill>
                <a:latin typeface="Calibri"/>
              </a:rPr>
              <a:t>Ingestion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2468879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Airbyte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3017520"/>
            <a:ext cx="1828800" cy="749808"/>
          </a:xfrm>
          <a:prstGeom prst="rect">
            <a:avLst/>
          </a:prstGeom>
          <a:solidFill>
            <a:srgbClr val="0C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74320" y="3017520"/>
            <a:ext cx="1828800" cy="64008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3108960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8C42"/>
                </a:solidFill>
                <a:latin typeface="Calibri"/>
              </a:rPr>
              <a:t>Queue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3383279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Redis + Celery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286000" y="3017520"/>
            <a:ext cx="1828800" cy="749808"/>
          </a:xfrm>
          <a:prstGeom prst="rect">
            <a:avLst/>
          </a:prstGeom>
          <a:solidFill>
            <a:srgbClr val="0C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286000" y="3017520"/>
            <a:ext cx="1828800" cy="64008"/>
          </a:xfrm>
          <a:prstGeom prst="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377440" y="3108960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5C5C"/>
                </a:solidFill>
                <a:latin typeface="Calibri"/>
              </a:rPr>
              <a:t>Deployment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377440" y="3383279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Docker + AWS ECS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297680" y="3017520"/>
            <a:ext cx="1828800" cy="749808"/>
          </a:xfrm>
          <a:prstGeom prst="rect">
            <a:avLst/>
          </a:prstGeom>
          <a:solidFill>
            <a:srgbClr val="0C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297680" y="3017520"/>
            <a:ext cx="1828800" cy="64008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89120" y="3108960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  <a:latin typeface="Calibri"/>
              </a:rPr>
              <a:t>Observability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89120" y="3383279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LangSmith + Sentry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806440" y="1188720"/>
            <a:ext cx="6126480" cy="1325880"/>
          </a:xfrm>
          <a:prstGeom prst="rect">
            <a:avLst/>
          </a:prstGeom>
          <a:solidFill>
            <a:srgbClr val="0C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806440" y="1188720"/>
            <a:ext cx="6126480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806440" y="1188720"/>
            <a:ext cx="1234440" cy="1325880"/>
          </a:xfrm>
          <a:prstGeom prst="rect">
            <a:avLst/>
          </a:prstGeom>
          <a:solidFill>
            <a:srgbClr val="0A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852160" y="1298448"/>
            <a:ext cx="11155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B4D8"/>
                </a:solidFill>
                <a:latin typeface="Calibri"/>
              </a:rPr>
              <a:t>Phase 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852160" y="1664208"/>
            <a:ext cx="11155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Weeks 1–4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132320" y="1280160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Data Foundation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132320" y="1645920"/>
            <a:ext cx="46634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FF8"/>
                </a:solidFill>
                <a:latin typeface="Calibri"/>
              </a:rPr>
              <a:t>Airbyte + 3 connectors, processing pipeline, Qdrant setup, basic API skeleton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806440" y="2697480"/>
            <a:ext cx="6126480" cy="1325880"/>
          </a:xfrm>
          <a:prstGeom prst="rect">
            <a:avLst/>
          </a:prstGeom>
          <a:solidFill>
            <a:srgbClr val="0C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806440" y="2697480"/>
            <a:ext cx="6126480" cy="64008"/>
          </a:xfrm>
          <a:prstGeom prst="rect">
            <a:avLst/>
          </a:prstGeom>
          <a:solidFill>
            <a:srgbClr val="06C2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806440" y="2697480"/>
            <a:ext cx="1234440" cy="1325880"/>
          </a:xfrm>
          <a:prstGeom prst="rect">
            <a:avLst/>
          </a:prstGeom>
          <a:solidFill>
            <a:srgbClr val="0A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852160" y="2807208"/>
            <a:ext cx="11155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6C273"/>
                </a:solidFill>
                <a:latin typeface="Calibri"/>
              </a:rPr>
              <a:t>Phase 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852160" y="3172968"/>
            <a:ext cx="11155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Weeks 5–8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132320" y="2788920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Intelligence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132320" y="3154680"/>
            <a:ext cx="46634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FF8"/>
                </a:solidFill>
                <a:latin typeface="Calibri"/>
              </a:rPr>
              <a:t>LangChain RAG, streaming chat, 5 insight detectors, Alert Engine + Slack/email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806440" y="4206240"/>
            <a:ext cx="6126480" cy="1325880"/>
          </a:xfrm>
          <a:prstGeom prst="rect">
            <a:avLst/>
          </a:prstGeom>
          <a:solidFill>
            <a:srgbClr val="0C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806440" y="4206240"/>
            <a:ext cx="6126480" cy="64008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806440" y="4206240"/>
            <a:ext cx="1234440" cy="1325880"/>
          </a:xfrm>
          <a:prstGeom prst="rect">
            <a:avLst/>
          </a:prstGeom>
          <a:solidFill>
            <a:srgbClr val="0A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852160" y="4315968"/>
            <a:ext cx="11155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8C42"/>
                </a:solidFill>
                <a:latin typeface="Calibri"/>
              </a:rPr>
              <a:t>Phase 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852160" y="4681727"/>
            <a:ext cx="11155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Weeks 9–12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132320" y="4297679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Frontend &amp; Launch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132320" y="4663440"/>
            <a:ext cx="46634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FF8"/>
                </a:solidFill>
                <a:latin typeface="Calibri"/>
              </a:rPr>
              <a:t>Next.js UI (chat, dashboard, alerts), E2E tests, AWS deploy, 3 beta tenants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74320" y="6016752"/>
            <a:ext cx="11612880" cy="658368"/>
          </a:xfrm>
          <a:prstGeom prst="rect">
            <a:avLst/>
          </a:prstGeom>
          <a:solidFill>
            <a:srgbClr val="061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57200" y="60807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Security: JWT RS256 · AES-256 credential encryption · Per-tenant RLS · Rate limiting (100 req/min) · LangSmith audit trail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57200" y="6382512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45566"/>
                </a:solidFill>
                <a:latin typeface="Calibri"/>
              </a:rPr>
              <a:t>OpsLens AI — Architecture v1.0  | 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